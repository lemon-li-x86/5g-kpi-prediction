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  <Override PartName="/ppt/charts/chart1.xml" ContentType="application/vnd.openxmlformats-officedocument.drawingml.chart+xml"/>
  <Override PartName="/ppt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367d63f3254257" /><Relationship Type="http://schemas.openxmlformats.org/officeDocument/2006/relationships/extended-properties" Target="/docProps/app.xml" Id="Raf3e2d4a64c143ce" /><Relationship Type="http://schemas.openxmlformats.org/officeDocument/2006/relationships/officeDocument" Target="/ppt/presentation.xml" Id="R7fced6e6c2ec44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85ca6cf4f34fe1"/>
  </p:sldMasterIdLst>
  <p:notesMasterIdLst>
    <p:notesMasterId xmlns:r="http://schemas.openxmlformats.org/officeDocument/2006/relationships" r:id="R615ef6cd7cb1463f"/>
  </p:notesMasterIdLst>
  <p:sldIdLst>
    <p:sldId xmlns:r="http://schemas.openxmlformats.org/officeDocument/2006/relationships" id="256" r:id="Rab4da93b118d49eb"/>
    <p:sldId xmlns:r="http://schemas.openxmlformats.org/officeDocument/2006/relationships" id="257" r:id="R2f5a6f5f4b304d72"/>
    <p:sldId xmlns:r="http://schemas.openxmlformats.org/officeDocument/2006/relationships" id="258" r:id="R54729c45522c482a"/>
    <p:sldId xmlns:r="http://schemas.openxmlformats.org/officeDocument/2006/relationships" id="259" r:id="R97da9ffeee6644ce"/>
    <p:sldId xmlns:r="http://schemas.openxmlformats.org/officeDocument/2006/relationships" id="260" r:id="R963b6bd9039144dd"/>
    <p:sldId xmlns:r="http://schemas.openxmlformats.org/officeDocument/2006/relationships" id="261" r:id="Rc0aa2650bcaa464b"/>
    <p:sldId xmlns:r="http://schemas.openxmlformats.org/officeDocument/2006/relationships" id="262" r:id="R03287d23b3eb4ee4"/>
    <p:sldId xmlns:r="http://schemas.openxmlformats.org/officeDocument/2006/relationships" id="263" r:id="R8663209aacd64ea4"/>
    <p:sldId xmlns:r="http://schemas.openxmlformats.org/officeDocument/2006/relationships" id="264" r:id="R613b331e5aa74084"/>
    <p:sldId xmlns:r="http://schemas.openxmlformats.org/officeDocument/2006/relationships" id="265" r:id="Rb79b562a94e245b3"/>
    <p:sldId xmlns:r="http://schemas.openxmlformats.org/officeDocument/2006/relationships" id="266" r:id="R62c8d62eea6b40db"/>
    <p:sldId xmlns:r="http://schemas.openxmlformats.org/officeDocument/2006/relationships" id="267" r:id="Rb361dcccf7e5466a"/>
    <p:sldId xmlns:r="http://schemas.openxmlformats.org/officeDocument/2006/relationships" id="268" r:id="R024a93655ba94f0c"/>
    <p:sldId xmlns:r="http://schemas.openxmlformats.org/officeDocument/2006/relationships" id="269" r:id="R8d8704cfc498460a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49683e04704752" /><Relationship Type="http://schemas.openxmlformats.org/officeDocument/2006/relationships/slideMaster" Target="/ppt/slideMasters/slideMaster1.xml" Id="R3385ca6cf4f34fe1" /><Relationship Type="http://schemas.openxmlformats.org/officeDocument/2006/relationships/notesMaster" Target="/ppt/notesMasters/notesMaster1.xml" Id="R615ef6cd7cb1463f" /><Relationship Type="http://schemas.openxmlformats.org/officeDocument/2006/relationships/presProps" Target="/ppt/presProps.xml" Id="R4e30042b14164397" /><Relationship Type="http://schemas.openxmlformats.org/officeDocument/2006/relationships/viewProps" Target="/ppt/viewProps.xml" Id="R4c836577574f4978" /><Relationship Type="http://schemas.openxmlformats.org/officeDocument/2006/relationships/tableStyles" Target="/ppt/tableStyles.xml" Id="R09a4fb69e6904219" /><Relationship Type="http://schemas.openxmlformats.org/officeDocument/2006/relationships/slide" Target="/ppt/slides/slide1.xml" Id="Rab4da93b118d49eb" /><Relationship Type="http://schemas.openxmlformats.org/officeDocument/2006/relationships/slide" Target="/ppt/slides/slide2.xml" Id="R2f5a6f5f4b304d72" /><Relationship Type="http://schemas.openxmlformats.org/officeDocument/2006/relationships/slide" Target="/ppt/slides/slide3.xml" Id="R54729c45522c482a" /><Relationship Type="http://schemas.openxmlformats.org/officeDocument/2006/relationships/slide" Target="/ppt/slides/slide4.xml" Id="R97da9ffeee6644ce" /><Relationship Type="http://schemas.openxmlformats.org/officeDocument/2006/relationships/slide" Target="/ppt/slides/slide5.xml" Id="R963b6bd9039144dd" /><Relationship Type="http://schemas.openxmlformats.org/officeDocument/2006/relationships/slide" Target="/ppt/slides/slide6.xml" Id="Rc0aa2650bcaa464b" /><Relationship Type="http://schemas.openxmlformats.org/officeDocument/2006/relationships/slide" Target="/ppt/slides/slide7.xml" Id="R03287d23b3eb4ee4" /><Relationship Type="http://schemas.openxmlformats.org/officeDocument/2006/relationships/slide" Target="/ppt/slides/slide8.xml" Id="R8663209aacd64ea4" /><Relationship Type="http://schemas.openxmlformats.org/officeDocument/2006/relationships/slide" Target="/ppt/slides/slide9.xml" Id="R613b331e5aa74084" /><Relationship Type="http://schemas.openxmlformats.org/officeDocument/2006/relationships/slide" Target="/ppt/slides/slide10.xml" Id="Rb79b562a94e245b3" /><Relationship Type="http://schemas.openxmlformats.org/officeDocument/2006/relationships/slide" Target="/ppt/slides/slide11.xml" Id="R62c8d62eea6b40db" /><Relationship Type="http://schemas.openxmlformats.org/officeDocument/2006/relationships/slide" Target="/ppt/slides/slide12.xml" Id="Rb361dcccf7e5466a" /><Relationship Type="http://schemas.openxmlformats.org/officeDocument/2006/relationships/slide" Target="/ppt/slides/slide13.xml" Id="R024a93655ba94f0c" /><Relationship Type="http://schemas.openxmlformats.org/officeDocument/2006/relationships/slide" Target="/ppt/slides/slide14.xml" Id="R8d8704cfc498460a" 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'Chart Data'!$B$1</c:f>
              <c:strCache>
                <c:ptCount val="1"/>
                <c:pt idx="0">
                  <c:v>RandomForest</c:v>
                </c:pt>
              </c:strCache>
            </c:strRef>
          </c:tx>
          <c:spPr>
            <a:solidFill>
              <a:srgbClr val="12345A"/>
            </a:solidFill>
          </c:spPr>
          <c:invertIfNegative val="0"/>
          <c:dLbls>
            <c:delete val="1"/>
          </c:dLbls>
          <c:cat>
            <c:strRef>
              <c:f>'Chart Data'!$A$2:$A$5</c:f>
              <c:strCache>
                <c:ptCount val="4"/>
                <c:pt idx="0">
                  <c:v>DLPRB</c:v>
                </c:pt>
                <c:pt idx="1">
                  <c:v>DLThpVol</c:v>
                </c:pt>
                <c:pt idx="2">
                  <c:v>DLThpTime</c:v>
                </c:pt>
                <c:pt idx="3">
                  <c:v>MR_number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0.769915</c:v>
                </c:pt>
                <c:pt idx="1">
                  <c:v>0.584089</c:v>
                </c:pt>
                <c:pt idx="2">
                  <c:v>0.684194</c:v>
                </c:pt>
                <c:pt idx="3">
                  <c:v>0.854584</c:v>
                </c:pt>
              </c:numCache>
            </c:numRef>
          </c:val>
        </c:ser>
        <c:ser>
          <c:idx val="1"/>
          <c:order val="1"/>
          <c:tx>
            <c:strRef>
              <c:f>'Chart Data'!$D$1</c:f>
              <c:strCache>
                <c:ptCount val="1"/>
                <c:pt idx="0">
                  <c:v>XGBoost</c:v>
                </c:pt>
              </c:strCache>
            </c:strRef>
          </c:tx>
          <c:spPr>
            <a:solidFill>
              <a:srgbClr val="8AAEC2"/>
            </a:solidFill>
          </c:spPr>
          <c:invertIfNegative val="0"/>
          <c:dLbls>
            <c:delete val="1"/>
          </c:dLbls>
          <c:cat>
            <c:strRef>
              <c:f>'Chart Data'!$C$2:$C$5</c:f>
              <c:strCache>
                <c:ptCount val="4"/>
                <c:pt idx="0">
                  <c:v>DLPRB</c:v>
                </c:pt>
                <c:pt idx="1">
                  <c:v>DLThpVol</c:v>
                </c:pt>
                <c:pt idx="2">
                  <c:v>DLThpTime</c:v>
                </c:pt>
                <c:pt idx="3">
                  <c:v>MR_number</c:v>
                </c:pt>
              </c:strCache>
            </c:strRef>
          </c:cat>
          <c:val>
            <c:numRef>
              <c:f>'Chart Data'!$D$2:$D$5</c:f>
              <c:numCache>
                <c:formatCode>0.0</c:formatCode>
                <c:ptCount val="4"/>
                <c:pt idx="0">
                  <c:v>0.765584</c:v>
                </c:pt>
                <c:pt idx="1">
                  <c:v>0.432144</c:v>
                </c:pt>
                <c:pt idx="2">
                  <c:v>0.634282</c:v>
                </c:pt>
                <c:pt idx="3">
                  <c:v>0.852792</c:v>
                </c:pt>
              </c:numCache>
            </c:numRef>
          </c:val>
        </c:ser>
        <c:ser>
          <c:idx val="2"/>
          <c:order val="2"/>
          <c:tx>
            <c:strRef>
              <c:f>'Chart Data'!$F$1</c:f>
              <c:strCache>
                <c:ptCount val="1"/>
                <c:pt idx="0">
                  <c:v>GRU</c:v>
                </c:pt>
              </c:strCache>
            </c:strRef>
          </c:tx>
          <c:spPr>
            <a:solidFill>
              <a:srgbClr val="009CB6"/>
            </a:solidFill>
          </c:spPr>
          <c:invertIfNegative val="0"/>
          <c:dLbls>
            <c:delete val="1"/>
          </c:dLbls>
          <c:cat>
            <c:strRef>
              <c:f>'Chart Data'!$E$2:$E$5</c:f>
              <c:strCache>
                <c:ptCount val="4"/>
                <c:pt idx="0">
                  <c:v>DLPRB</c:v>
                </c:pt>
                <c:pt idx="1">
                  <c:v>DLThpVol</c:v>
                </c:pt>
                <c:pt idx="2">
                  <c:v>DLThpTime</c:v>
                </c:pt>
                <c:pt idx="3">
                  <c:v>MR_number</c:v>
                </c:pt>
              </c:strCache>
            </c:strRef>
          </c:cat>
          <c:val>
            <c:numRef>
              <c:f>'Chart Data'!$F$2:$F$5</c:f>
              <c:numCache>
                <c:formatCode>0.0</c:formatCode>
                <c:ptCount val="4"/>
                <c:pt idx="0">
                  <c:v>0.801694</c:v>
                </c:pt>
                <c:pt idx="1">
                  <c:v>0.549158</c:v>
                </c:pt>
                <c:pt idx="2">
                  <c:v>0.708258</c:v>
                </c:pt>
                <c:pt idx="3">
                  <c:v>0.885797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5E0E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350" b="0" i="0" u="none" strike="noStrike" kern="1200" baseline="0">
                <a:solidFill>
                  <a:srgbClr val="283F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668">
              <a:solidFill>
                <a:srgbClr val="D5E0E9"/>
              </a:solidFill>
              <a:prstDash val="solid"/>
              <a:round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75" b="0" i="0" u="none" strike="noStrike" kern="1200" baseline="0">
                <a:solidFill>
                  <a:srgbClr val="6074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50112"/>
        <c:crosses val="autoZero"/>
        <c:crossBetween val="between"/>
        <c:majorUnit val="0.2"/>
      </c:valAx>
      <c:spPr>
        <a:solidFill>
          <a:srgbClr val="FFFFFF"/>
        </a:solidFill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425" b="0" i="0" u="none" strike="noStrike" kern="1200" baseline="0">
              <a:solidFill>
                <a:srgbClr val="283F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5b6042e1-7f07-4bcb-bba7-5b2c0b65b936}"/>
      </c:ext>
    </c:extLst>
  </c:chart>
  <c:spPr>
    <a:solidFill>
      <a:srgbClr val="FFFFFF"/>
    </a:solidFill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'Chart Data'!$B$1</c:f>
              <c:strCache>
                <c:ptCount val="1"/>
                <c:pt idx="0">
                  <c:v>候选标记率</c:v>
                </c:pt>
              </c:strCache>
            </c:strRef>
          </c:tx>
          <c:spPr>
            <a:solidFill>
              <a:srgbClr val="009CB6"/>
            </a:solidFill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Data'!$A$2:$A$5</c:f>
              <c:strCache>
                <c:ptCount val="4"/>
                <c:pt idx="0">
                  <c:v>3σ</c:v>
                </c:pt>
                <c:pt idx="1">
                  <c:v>IQR</c:v>
                </c:pt>
                <c:pt idx="2">
                  <c:v>Isolation Forest</c:v>
                </c:pt>
                <c:pt idx="3">
                  <c:v>共识规则</c:v>
                </c:pt>
              </c:strCache>
            </c:strRef>
          </c:cat>
          <c:val>
            <c:numRef>
              <c:f>'Chart Data'!$B$2:$B$5</c:f>
              <c:numCache>
                <c:formatCode>0.00%</c:formatCode>
                <c:ptCount val="4"/>
                <c:pt idx="0">
                  <c:v>0.04559152</c:v>
                </c:pt>
                <c:pt idx="1">
                  <c:v>0.10606399</c:v>
                </c:pt>
                <c:pt idx="2">
                  <c:v>0.02046131</c:v>
                </c:pt>
                <c:pt idx="3">
                  <c:v>0.00654142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5E0E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500" b="0" i="0" u="none" strike="noStrike" kern="1200" baseline="0">
                <a:solidFill>
                  <a:srgbClr val="283F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0.12"/>
          <c:min val="0"/>
        </c:scaling>
        <c:delete val="0"/>
        <c:axPos val="l"/>
        <c:majorGridlines>
          <c:spPr>
            <a:ln w="6668">
              <a:solidFill>
                <a:srgbClr val="D5E0E9"/>
              </a:solidFill>
              <a:prstDash val="solid"/>
              <a:round/>
            </a:ln>
          </c:spPr>
        </c:majorGridlines>
        <c:numFmt formatCode="0.00%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350" b="0" i="0" u="none" strike="noStrike" kern="1200" baseline="0">
                <a:solidFill>
                  <a:srgbClr val="6074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50112"/>
        <c:crosses val="autoZero"/>
        <c:crossBetween val="between"/>
        <c:majorUnit val="0.02"/>
      </c:valAx>
      <c:spPr>
        <a:solidFill>
          <a:srgbClr val="FFFFFF"/>
        </a:solidFill>
      </c:spPr>
    </c:plotArea>
    <c:plotVisOnly val="1"/>
    <c:dispBlanksAs val="gap"/>
    <c:showDLblsOverMax val="0"/>
    <c:extLst>
      <c:ext uri="{0b15fc19-7d7d-44ad-8c2d-2c3a37ce22c3}">
        <chartProps xmlns="https://web.wps.cn/et/2018/main" chartId="{1cfb608c-915e-45ad-b8f6-ed62e39efbb4}"/>
      </c:ext>
    </c:extLst>
  </c:chart>
  <c:spPr>
    <a:solidFill>
      <a:srgbClr val="FFFFFF"/>
    </a:solidFill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78fcf3c86541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d46b36628f4acb" /><Relationship Type="http://schemas.openxmlformats.org/officeDocument/2006/relationships/notesMaster" Target="/ppt/notesMasters/notesMaster1.xml" Id="Radfac20d25fd49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987af78cff4cf8" /><Relationship Type="http://schemas.openxmlformats.org/officeDocument/2006/relationships/notesMaster" Target="/ppt/notesMasters/notesMaster1.xml" Id="R95e3ffc633464d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9bb308066d485a" /><Relationship Type="http://schemas.openxmlformats.org/officeDocument/2006/relationships/notesMaster" Target="/ppt/notesMasters/notesMaster1.xml" Id="Red8c0f0fcce945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4e7358b2444968" /><Relationship Type="http://schemas.openxmlformats.org/officeDocument/2006/relationships/notesMaster" Target="/ppt/notesMasters/notesMaster1.xml" Id="R786a42470c0343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39c7a164754aa0" /><Relationship Type="http://schemas.openxmlformats.org/officeDocument/2006/relationships/notesMaster" Target="/ppt/notesMasters/notesMaster1.xml" Id="R173ed7b73fb345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0768cd717a41f8" /><Relationship Type="http://schemas.openxmlformats.org/officeDocument/2006/relationships/notesMaster" Target="/ppt/notesMasters/notesMaster1.xml" Id="R12ce18e25e584c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81d853bc484716" /><Relationship Type="http://schemas.openxmlformats.org/officeDocument/2006/relationships/notesMaster" Target="/ppt/notesMasters/notesMaster1.xml" Id="R50e5fbe1bb75429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077b46a2834493" /><Relationship Type="http://schemas.openxmlformats.org/officeDocument/2006/relationships/notesMaster" Target="/ppt/notesMasters/notesMaster1.xml" Id="Rbc2d26a0735740b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04284f50c44701" /><Relationship Type="http://schemas.openxmlformats.org/officeDocument/2006/relationships/notesMaster" Target="/ppt/notesMasters/notesMaster1.xml" Id="Rde6425627d3041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09cf10323549f9" /><Relationship Type="http://schemas.openxmlformats.org/officeDocument/2006/relationships/notesMaster" Target="/ppt/notesMasters/notesMaster1.xml" Id="R899cb24dfc324e0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b8965bafe6c4428" /><Relationship Type="http://schemas.openxmlformats.org/officeDocument/2006/relationships/notesMaster" Target="/ppt/notesMasters/notesMaster1.xml" Id="R5dcae318d7774d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1b677e94374297" /><Relationship Type="http://schemas.openxmlformats.org/officeDocument/2006/relationships/notesMaster" Target="/ppt/notesMasters/notesMaster1.xml" Id="R4224843bdc93466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7d5200f469245d9" /><Relationship Type="http://schemas.openxmlformats.org/officeDocument/2006/relationships/notesMaster" Target="/ppt/notesMasters/notesMaster1.xml" Id="R75d0864492a0434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e0c25fc972a49c8" /><Relationship Type="http://schemas.openxmlformats.org/officeDocument/2006/relationships/notesMaster" Target="/ppt/notesMasters/notesMaster1.xml" Id="Rbecd91dc51284d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 20 秒</a:t>
            </a:r>
          </a:p>
          <a:p xmlns:a="http://schemas.openxmlformats.org/drawingml/2006/main"/>
          <a:p xmlns:a="http://schemas.openxmlformats.org/drawingml/2006/main">
            <a:r>
              <a:t>老师好，我汇报的是《基于 AI 的 5G 网络 KPI 预测与异常检测系统》。我会按项目实际推进的顺序介绍：先搭建并验证 5G 网络，再处理波束级 KPI 数据，比较预测和异常检测方法，最后将算法整合进可操作的 Web 系统。整个项目的重点，是把通信实验、数据分析和软件工程串成一套可复现的成果。</a:t>
            </a:r>
          </a:p>
          <a:p xmlns:a="http://schemas.openxmlformats.org/drawingml/2006/main"/>
          <a:p xmlns:a="http://schemas.openxmlformats.org/drawingml/2006/main">
            <a:r>
              <a:t>资料来源：完整技术报告；正式实验指标表；Web 实测截图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 35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项目想解决两个很具体的问题：一是利用历史数据预测下一小时的 KPI，二是从大量记录中筛选需要重点关注的异常时段。我们从通信和算法两个方向入手。通信实验采用 free5GC 与 UERANSIM 验证注册、PDU Session 和用户面转发；模型分析则采用公开的 gotsf-ds 波束级 KPI 数据。两部分共同支撑系统的技术理解与应用实现。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资料来源：项目 README.md；ARCHITECTURE.md；技术报告第 1 章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 50 秒</a:t>
            </a:r>
          </a:p>
          <a:p xmlns:a="http://schemas.openxmlformats.org/drawingml/2006/main"/>
          <a:p xmlns:a="http://schemas.openxmlformats.org/drawingml/2006/main">
            <a:r>
              <a:t>通信实验最初遇到的障碍是 gtp5g 内核模块。Windows 的 WSL2 使用定制内核，不适合直接沿用计划中的模块构建流程。于是我调整了环境，把 AI 开发留在 WSL2，用两台 Ubuntu 22.04 虚拟机部署 free5GC 和 UERANSIM。成功注册并建立 PDU Session 后，UE 的隧道接口能访问外网。我又进一步检查 Wireshark 抓包：Frame 617 配置的上行 TEID 为 0x2，Frame 646 的 GTP-U 报文使用相同 TEID，并承载 ICMP。这样不仅证明了连通性，也把控制面配置和用户面报文对应起来。</a:t>
            </a:r>
          </a:p>
          <a:p xmlns:a="http://schemas.openxmlformats.org/drawingml/2006/main"/>
          <a:p xmlns:a="http://schemas.openxmlformats.org/drawingml/2006/main">
            <a:r>
              <a:t>资料来源：W1 环境配置文档；协议分析.pdf；信令流程.pdf；技术报告第 2 章</a:t>
            </a:r>
          </a:p>
          <a:p xmlns:a="http://schemas.openxmlformats.org/drawingml/2006/main"/>
          <a:p xmlns:a="http://schemas.openxmlformats.org/drawingml/2006/main">
            <a:r>
              <a:t>依据《项目技术报告》第3页：Frame617中UPF UL TEID=0x00000002；Frame618中gNB侧TEID=0x00000001。Frame646上行使用0x2，不将上、下行报文都标成同一TEID。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报告第5页表4：三折外层目标为384–479、480–575、576–671，各276,480条；留出目标672–839，共483,840条。留出训练标签169–587，内部验证588–671。正式预测实验的scaler只用Time0–587原始观测拟合。通用预处理及异常检测的0–671拟合口径不混入正式预测。报告第10页说明留出期曾用于项目选型。MAE/RMSE保持数据集原始数值尺度，不换算为Mbps或百分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参数见报告表5：RF=30棵、深度16、叶样本20、max_features=sqrt、max_samples=0.6；XGBoost=250轮、深度8、学习率0.05、subsample/colsample=0.8；GRU=hidden32、Adam0.001、batch256、最多12轮、patience3。各模型每场景共享同一60,000训练标签。输入表示、早停与计算量不同，比较用于工程选型。独立RF超参搜索仅针对DLPRB，Optuna TPE12次，256beam三折平均RMSE，最优分数0.473700。LSTM/Transformer属独立架构探索，其scaler覆盖内部验证，不混入正式三模型比较。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依据报告第7页表7与正式metrics.csv。RF R²依次0.769915、0.584089、0.684194、0.854584；XGBoost依次0.765584、0.432144、0.634282、0.852792；GRU依次0.801694、0.549158、0.708258、0.885797。图表与表格按报告保留6位，完整原值见metrics.csv。相对改善=(RF MAE−GRU MAE)/RF MAE。GRU DLThpVol RMSE=0.498167，RF=0.478479。GRU在其余三KPI的RMSE及R²更好。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报告表8三折均值与折间SD，均使用模型seed42。SD为相邻评价窗离散程度，不是独立重复试验置信区间。DLThpVol GRU RMSE=1.0353±0.3805，折间波动较大。表9配对检验将相同beam-hour损失按小时平均，168对小时损失，Newey–West HAC、Bartlett权重、带宽24、双侧正态近似；每个种子3模型对×4KPI×2损失=24项Holm校正。CI为逐项HAC区间，p为Holm校正后。seed42 DLThpVol MAE/MSE均不显著；其余3KPI两类损失显著降低。GRU相对XGBoost四KPI两类损失均显著降低。seed43 DLThpVol MAE p=0.01035，MSE p=0.3196。两种子共享抽样与测试时段，仅复核有限初始化变化。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 55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导师提出过一个很好的问题：为什么不同异常检测方法的标记率差别这么大？我进一步按波束分析了四项 KPI 的训练数据分布。比如 DLThpVol 有 98.3% 的波束呈现明显偏态，75.5% 的波束具有较高的超额峰度；而 3σ 和 IQR 本来就使用不同尺度的阈值，因此在完整测试集上，IQR 标记 10.61%，3σ 标记 4.56%，Isolation Forest 标记 2.05%。我又比较了 AND、OR 的多种组合：全部取并集会得到 58,108 条候选，三种方法同时满足只有 2,074 条。最后选用 IF AND（3σ OR IQR），让多变量异常和统计偏离相互支持，得到 3,165 条重点候选，占 483,840 条正式测试记录的 0.654%。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资料来源：reports/w4_anomaly_threshold_shape_summary.csv；reports/w4_anomaly_logic_comparison.csv；reports/w4_anomaly_threshold_shape_summary.csv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报告第10–12页：3σ=22,059/483,840；IQR=51,318/483,840；IF=9,900/483,840；SVM=552/12,000，抽样分母不与全量直接排名。共识IF∩(3σ∪IQR)=3,165；IF∩IQR=3,159，增量6条。偏态、厚尾和阈值宽度共同提供标记率差异解释。没有故障真值，候选率不代表故障率或检测精确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 60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算法能够运行之后，下一步是让多轮实验互不干扰。我们确实遇到过不同深度学习实验写入同一历史目录、产生 train_scale_mean 不一致的冲突。为了解决它，我把每一轮训练的参数、标准化信息、权重、测试指标和图表都放进独立 run_id 目录，避免重复训练覆盖正式结果。长时间训练还需要让用户看见进度，于是后台任务通过 WebSocket 把日志实时传到界面。现在六个功能页面分别管理数据、训练、实验记录、预测、异常检测和 KPI 关联分析，形成了完整的操作流程。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资料来源：ARCHITECTURE.md；deliverables/submit4/w4周报.pdf；Web 界面截图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 35 秒</a:t>
            </a:r>
          </a:p>
          <a:p xmlns:a="http://schemas.openxmlformats.org/drawingml/2006/main"/>
          <a:p xmlns:a="http://schemas.openxmlformats.org/drawingml/2006/main">
            <a:r>
              <a:t>这是我在 Web 里实际运行的下一小时预测。系统从预处理数据中提取一个波束最近连续 169 小时的历史，作为符合特征窗口要求的演示输入。用户选择已保存的模型，系统按同样的预处理参数构造输入并计算下一小时结果。截图中目标时间是 Time 840，MR_number 预测值为 0.6485。界面同时显示结果图，并支持导出 CSV。整个过程从数据准备到模型计算和结果导出都能直接操作。</a:t>
            </a:r>
          </a:p>
          <a:p xmlns:a="http://schemas.openxmlformats.org/drawingml/2006/main"/>
          <a:p xmlns:a="http://schemas.openxmlformats.org/drawingml/2006/main">
            <a:r>
              <a:t>资料来源：截图 03_kpi_prediction.png；src/data/prepare_demo_inputs.py；src/models/inference.py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 40 秒</a:t>
            </a:r>
          </a:p>
          <a:p xmlns:a="http://schemas.openxmlformats.org/drawingml/2006/main"/>
          <a:p xmlns:a="http://schemas.openxmlformats.org/drawingml/2006/main">
            <a:r>
              <a:t>异常检测的输入与单波束预测不同，需要全部波束在相同的连续时间轴上对齐。我专门设置了异常检测的演示数据生成与校验流程，自动提取 2,880 个波束的最近三个小时，其中第一个小时用来计算差分特征，后两个小时进行检测。这样本次共处理 5,760 条待检测记录，得到 58 条共识候选。右侧可以查看逐小时标记率，下面能够查看每条记录的检测标志，并将结果导出 CSV。这展示了完整的异常分析操作链路。</a:t>
            </a:r>
          </a:p>
          <a:p xmlns:a="http://schemas.openxmlformats.org/drawingml/2006/main"/>
          <a:p xmlns:a="http://schemas.openxmlformats.org/drawingml/2006/main">
            <a:r>
              <a:t>资料来源：截图 04_anomaly_detection-1/-2.png；src/models/inference.py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 50 秒</a:t>
            </a:r>
          </a:p>
          <a:p xmlns:a="http://schemas.openxmlformats.org/drawingml/2006/main"/>
          <a:p xmlns:a="http://schemas.openxmlformats.org/drawingml/2006/main">
            <a:r>
              <a:t>得到异常候选后，我继续分析这些指标是否存在同步变化。正式历史实验中，我们针对全部 3,165 条候选、覆盖的 30 个基站计算 Pearson 相关性，并采用基站聚类稳健检验及 Holm 多重比较校正。DLPRB 与 MR_number 的相关性最强，r 为 0.889，对应调整后 p 值约 1.10×10⁻²⁸；DLPRB 与 DLThpTime 的 r 为 0.697。实际 Web 还可以直接基于刚才检测得到的 58 条候选重新计算矩阵，DLPRB 与 MR_number 的 r 约为 0.82。这些结果为资源使用、调度及测量活动的进一步排查提供了具体切入点；确认设备故障原因时再结合告警和工单信息。</a:t>
            </a:r>
          </a:p>
          <a:p xmlns:a="http://schemas.openxmlformats.org/drawingml/2006/main"/>
          <a:p xmlns:a="http://schemas.openxmlformats.org/drawingml/2006/main">
            <a:r>
              <a:t>资料来源：reports/w4_anomaly_kpi_correlation_tests.csv；截图 05_kpi_association.png</a:t>
            </a:r>
          </a:p>
          <a:p xmlns:a="http://schemas.openxmlformats.org/drawingml/2006/main"/>
          <a:p xmlns:a="http://schemas.openxmlformats.org/drawingml/2006/main">
            <a:r>
              <a:t>正式候选n=3,165、30站，6对相关的站级聚类稳健零回归斜率检验进行Holm校正；p值不是假设3,165条独立观测的普通Pearson检验。DLPRB/MR_number站级bootstrap95%CI=[0.841,0.918]，DLPRB/DLThpTime=[0.485,0.795]。58条Web候选另算相关矩阵，其r≈0.82不与正式r=0.889混用。相关不构成根因证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最新58项回归见reports/delivery_final_20261025/tests.txt；报告表18与R21保留既有Web与模型验收；六页exceptions与visible_errors为空；seed42 GRU1个及RF/XGBoost各四个工件通过现有推理接口回载和CSV往返；既有异常工件验证5,760条。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训练前缀scaler、三折扩展窗口与双种子已完成，列入已交付内容。后续方向是增加验证覆盖与独立外部数据，接入有真值的故障工单、告警与无线质量记录。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319a179bc34b8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09a255ceca4e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66dab6feee4f8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ba5c955eaa42b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18779ee27e4e3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57f8de4e4844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3F1DE4-5E8A-4D14-8F8B-2F134A9DA7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1EF7EA5-7CE5-4F93-AD36-F18AF67870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C561D44-B596-425C-84DD-D6D35E14B4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8648CB7-B454-49AC-9A39-298082B0EF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2A9892B-5676-4A75-8995-1CC777FBFC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1894CF2-7755-42AC-8B37-B1011F9653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B1525DB-C845-44DD-954A-1CB70DA950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BD9C7CC-3745-434F-BD84-828FCABBEFE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1EFBCA6-1F66-44C2-8951-7AA6FBB9E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CA36EE7-D72D-433F-8594-01F8C2F474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a572aea8ad4f06" /><Relationship Type="http://schemas.openxmlformats.org/officeDocument/2006/relationships/slideLayout" Target="/ppt/slideLayouts/slideLayout1.xml" Id="R6b1be2b726a74075" /><Relationship Type="http://schemas.openxmlformats.org/officeDocument/2006/relationships/slideLayout" Target="/ppt/slideLayouts/slideLayout2.xml" Id="Rda6ed4d674894266" /><Relationship Type="http://schemas.openxmlformats.org/officeDocument/2006/relationships/slideLayout" Target="/ppt/slideLayouts/slideLayout3.xml" Id="Rb8180f2003fe45e6" /><Relationship Type="http://schemas.openxmlformats.org/officeDocument/2006/relationships/slideLayout" Target="/ppt/slideLayouts/slideLayout4.xml" Id="Rbdfa0070e5d343fd" /><Relationship Type="http://schemas.openxmlformats.org/officeDocument/2006/relationships/slideLayout" Target="/ppt/slideLayouts/slideLayout5.xml" Id="R68845e86105f4488" /><Relationship Type="http://schemas.openxmlformats.org/officeDocument/2006/relationships/slideLayout" Target="/ppt/slideLayouts/slideLayout6.xml" Id="R56312261997443f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1be2b726a74075"/>
    <p:sldLayoutId xmlns:r="http://schemas.openxmlformats.org/officeDocument/2006/relationships" id="2147483650" r:id="Rda6ed4d674894266"/>
    <p:sldLayoutId xmlns:r="http://schemas.openxmlformats.org/officeDocument/2006/relationships" id="2147483651" r:id="Rb8180f2003fe45e6"/>
    <p:sldLayoutId xmlns:r="http://schemas.openxmlformats.org/officeDocument/2006/relationships" id="2147483652" r:id="Rbdfa0070e5d343fd"/>
    <p:sldLayoutId xmlns:r="http://schemas.openxmlformats.org/officeDocument/2006/relationships" id="2147483653" r:id="R68845e86105f4488"/>
    <p:sldLayoutId xmlns:r="http://schemas.openxmlformats.org/officeDocument/2006/relationships" id="2147483654" r:id="R56312261997443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078f6517fe4dee" /><Relationship Type="http://schemas.openxmlformats.org/officeDocument/2006/relationships/notesSlide" Target="/ppt/notesSlides/notesSlide1.xml" Id="Rbb706472974940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848206d1e346b0" /><Relationship Type="http://schemas.openxmlformats.org/officeDocument/2006/relationships/notesSlide" Target="/ppt/notesSlides/notesSlide2.xml" Id="R6d953b392d5641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2c91fd35f4468c" /><Relationship Type="http://schemas.openxmlformats.org/officeDocument/2006/relationships/notesSlide" Target="/ppt/notesSlides/notesSlide3.xml" Id="Ra233c1de4a2d4a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b7068f396e447e" /><Relationship Type="http://schemas.openxmlformats.org/officeDocument/2006/relationships/notesSlide" Target="/ppt/notesSlides/notesSlide4.xml" Id="Re46554cdd4bb45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53bf416e20415d" /><Relationship Type="http://schemas.openxmlformats.org/officeDocument/2006/relationships/notesSlide" Target="/ppt/notesSlides/notesSlide5.xml" Id="Rc7a92002f4284068" 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88bfc8a8a3744db"/><Relationship Type="http://schemas.openxmlformats.org/officeDocument/2006/relationships/chart" Target="/ppt/charts/chart1.xml" Id="R202a3b9e0a4d44ff"/><Relationship Type="http://schemas.openxmlformats.org/officeDocument/2006/relationships/notesSlide" Target="/ppt/notesSlides/notesSlide6.xml" Id="R0ef0cd3e43dd4107"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24b6a209d742cc" /><Relationship Type="http://schemas.openxmlformats.org/officeDocument/2006/relationships/notesSlide" Target="/ppt/notesSlides/notesSlide7.xml" Id="R05be1c3feefc445f" 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d1290fee4574064"/><Relationship Type="http://schemas.openxmlformats.org/officeDocument/2006/relationships/chart" Target="/ppt/charts/chart2.xml" Id="R39414db5844f4b79"/><Relationship Type="http://schemas.openxmlformats.org/officeDocument/2006/relationships/notesSlide" Target="/ppt/notesSlides/notesSlide8.xml" Id="R8f4f21eb612d4c40"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3401df067942d7" /><Relationship Type="http://schemas.openxmlformats.org/officeDocument/2006/relationships/image" Target="/ppt/media/image.png" Id="R4681d25511bd452d" /><Relationship Type="http://schemas.openxmlformats.org/officeDocument/2006/relationships/notesSlide" Target="/ppt/notesSlides/notesSlide9.xml" Id="Rd6c33ed830304ac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b088bf419e4858" /><Relationship Type="http://schemas.openxmlformats.org/officeDocument/2006/relationships/image" Target="/ppt/media/image2.png" Id="R35c5881f805c430b" /><Relationship Type="http://schemas.openxmlformats.org/officeDocument/2006/relationships/image" Target="/ppt/media/image3.png" Id="R1bce45c55a604e03" /><Relationship Type="http://schemas.openxmlformats.org/officeDocument/2006/relationships/notesSlide" Target="/ppt/notesSlides/notesSlide10.xml" Id="R4b3835b4aca64d7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fa83452640486a" /><Relationship Type="http://schemas.openxmlformats.org/officeDocument/2006/relationships/image" Target="/ppt/media/image4.png" Id="Ra9d1be1274084c35" /><Relationship Type="http://schemas.openxmlformats.org/officeDocument/2006/relationships/image" Target="/ppt/media/image5.png" Id="R661c2f71bc254e87" /><Relationship Type="http://schemas.openxmlformats.org/officeDocument/2006/relationships/notesSlide" Target="/ppt/notesSlides/notesSlide11.xml" Id="Rf56e6c0a561f4b0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5609f871fe4ece" /><Relationship Type="http://schemas.openxmlformats.org/officeDocument/2006/relationships/image" Target="/ppt/media/image6.png" Id="Rb0da19724c084208" /><Relationship Type="http://schemas.openxmlformats.org/officeDocument/2006/relationships/image" Target="/ppt/media/image7.png" Id="Rc0909a22b47041db" /><Relationship Type="http://schemas.openxmlformats.org/officeDocument/2006/relationships/image" Target="/ppt/media/image8.png" Id="Rc305451f5e62497a" /><Relationship Type="http://schemas.openxmlformats.org/officeDocument/2006/relationships/notesSlide" Target="/ppt/notesSlides/notesSlide12.xml" Id="Rc9fdb51540d64e9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ebc271532f4597" /><Relationship Type="http://schemas.openxmlformats.org/officeDocument/2006/relationships/notesSlide" Target="/ppt/notesSlides/notesSlide13.xml" Id="R47141cbac0d241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65994c4b344285" /><Relationship Type="http://schemas.openxmlformats.org/officeDocument/2006/relationships/notesSlide" Target="/ppt/notesSlides/notesSlide14.xml" Id="Re6874fd4028a44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01 / 14">
            <a:extLst xmlns:a="http://schemas.openxmlformats.org/drawingml/2006/main">
              <a:ext uri="{FF2B5EF4-FFF2-40B4-BE49-F238E27FC236}">
                <a16:creationId xmlns:a16="http://schemas.microsoft.com/office/drawing/2014/main" id="{DCEA9CA7-4147-429F-BC08-719DB3F9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01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通信工程项目最终汇报">
            <a:extLst xmlns:a="http://schemas.openxmlformats.org/drawingml/2006/main">
              <a:ext uri="{FF2B5EF4-FFF2-40B4-BE49-F238E27FC236}">
                <a16:creationId xmlns:a16="http://schemas.microsoft.com/office/drawing/2014/main" id="{FB5CE95A-E9AE-4757-9E6A-D5701CC0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通信工程项目最终汇报</a:t>
            </a:r>
            <a:endParaRPr sz="195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5G 网络 KPI&#10;预测与异常检测系统">
            <a:extLst xmlns:a="http://schemas.openxmlformats.org/drawingml/2006/main">
              <a:ext uri="{FF2B5EF4-FFF2-40B4-BE49-F238E27FC236}">
                <a16:creationId xmlns:a16="http://schemas.microsoft.com/office/drawing/2014/main" id="{03E03846-26B4-4BAC-AE1E-C8D4EFBD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0137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5G 网络 KPI</a:t>
            </a:r>
            <a:endParaRPr sz="45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  <a:def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45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预测与异常检测系统</a:t>
            </a:r>
            <a:endParaRPr sz="45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5G SA 协议验证与公开 KPI 数据建模">
            <a:extLst xmlns:a="http://schemas.openxmlformats.org/drawingml/2006/main">
              <a:ext uri="{FF2B5EF4-FFF2-40B4-BE49-F238E27FC236}">
                <a16:creationId xmlns:a16="http://schemas.microsoft.com/office/drawing/2014/main" id="{3369294B-2454-4190-9714-7C3F38A8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4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4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4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4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4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4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4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4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4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rPr>
              <a:t>5G SA 协议验证与公开 KPI 数据建模</a:t>
            </a:r>
            <a:endParaRPr sz="2400" b="0">
              <a:solidFill>
                <a:srgbClr val="283F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2,880">
            <a:extLst xmlns:a="http://schemas.openxmlformats.org/drawingml/2006/main">
              <a:ext uri="{FF2B5EF4-FFF2-40B4-BE49-F238E27FC236}">
                <a16:creationId xmlns:a16="http://schemas.microsoft.com/office/drawing/2014/main" id="{63A9CA50-20F5-4D44-A880-BB950EAD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2,880</a:t>
            </a:r>
            <a:endParaRPr sz="45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波束级时间序列">
            <a:extLst xmlns:a="http://schemas.openxmlformats.org/drawingml/2006/main">
              <a:ext uri="{FF2B5EF4-FFF2-40B4-BE49-F238E27FC236}">
                <a16:creationId xmlns:a16="http://schemas.microsoft.com/office/drawing/2014/main" id="{9991B37F-9567-450D-B1E2-2DB78ADE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292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波束级时间序列</a:t>
            </a:r>
            <a:endParaRPr sz="180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483,840">
            <a:extLst xmlns:a="http://schemas.openxmlformats.org/drawingml/2006/main">
              <a:ext uri="{FF2B5EF4-FFF2-40B4-BE49-F238E27FC236}">
                <a16:creationId xmlns:a16="http://schemas.microsoft.com/office/drawing/2014/main" id="{7A1D7F9A-42A3-4ED9-AF38-B2555D8C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86300"/>
            <a:ext cx="3714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483,840</a:t>
            </a:r>
            <a:endParaRPr sz="45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正式测试观测">
            <a:extLst xmlns:a="http://schemas.openxmlformats.org/drawingml/2006/main">
              <a:ext uri="{FF2B5EF4-FFF2-40B4-BE49-F238E27FC236}">
                <a16:creationId xmlns:a16="http://schemas.microsoft.com/office/drawing/2014/main" id="{D5A46A33-90D8-45BB-8482-58926B69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292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正式留出观测</a:t>
            </a:r>
            <a:endParaRPr sz="180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6">
            <a:extLst xmlns:a="http://schemas.openxmlformats.org/drawingml/2006/main">
              <a:ext uri="{FF2B5EF4-FFF2-40B4-BE49-F238E27FC236}">
                <a16:creationId xmlns:a16="http://schemas.microsoft.com/office/drawing/2014/main" id="{E1DBCA1E-F094-4DF1-8A3D-8D719D92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686300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45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45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Web 功能模块">
            <a:extLst xmlns:a="http://schemas.openxmlformats.org/drawingml/2006/main">
              <a:ext uri="{FF2B5EF4-FFF2-40B4-BE49-F238E27FC236}">
                <a16:creationId xmlns:a16="http://schemas.microsoft.com/office/drawing/2014/main" id="{4657EB9E-9E9E-4370-80DA-4EE0A790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4292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Web 功能模块</a:t>
            </a:r>
            <a:endParaRPr sz="180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导师汇报  /  2026 年 10 月">
            <a:extLst xmlns:a="http://schemas.openxmlformats.org/drawingml/2006/main">
              <a:ext uri="{FF2B5EF4-FFF2-40B4-BE49-F238E27FC236}">
                <a16:creationId xmlns:a16="http://schemas.microsoft.com/office/drawing/2014/main" id="{DB45D260-D84F-4D23-B96B-6A57F5CD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2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导师汇报  /  2026 年 10 月 25 日</a:t>
            </a:r>
            <a:endParaRPr sz="120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546457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1" name="直接箭头连接符 17">
            <a:extLst xmlns:a="http://schemas.openxmlformats.org/drawingml/2006/main">
              <a:ext uri="{FF2B5EF4-FFF2-40B4-BE49-F238E27FC236}">
                <a16:creationId xmlns:a16="http://schemas.microsoft.com/office/drawing/2014/main" id="{007C2113-A92F-42AE-9ACC-C34426CC5C7A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467600" y="4881563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9CB6"/>
            </a:solidFill>
            <a:tailEnd type="triangle" w="sm" len="sm"/>
          </a:ln>
        </p:spPr>
      </p:cxnSp>
      <p:cxnSp>
        <p:nvCxnSpPr>
          <p:cNvPr id="22" name="直接箭头连接符 16">
            <a:extLst xmlns:a="http://schemas.openxmlformats.org/drawingml/2006/main">
              <a:ext uri="{FF2B5EF4-FFF2-40B4-BE49-F238E27FC236}">
                <a16:creationId xmlns:a16="http://schemas.microsoft.com/office/drawing/2014/main" id="{CA97BDDB-F746-4A2E-9485-521EB6F10D50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619500" y="4881563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9CB6"/>
            </a:solidFill>
            <a:tailEnd type="triangle" w="sm" len="sm"/>
          </a:ln>
        </p:spPr>
      </p:cxnSp>
      <p:cxnSp>
        <p:nvCxnSpPr>
          <p:cNvPr id="23" name="直接箭头连接符 10">
            <a:extLst xmlns:a="http://schemas.openxmlformats.org/drawingml/2006/main">
              <a:ext uri="{FF2B5EF4-FFF2-40B4-BE49-F238E27FC236}">
                <a16:creationId xmlns:a16="http://schemas.microsoft.com/office/drawing/2014/main" id="{9AC6DBC7-FB71-4E75-860B-991055DFA896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467600" y="2709863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9CB6"/>
            </a:solidFill>
            <a:tailEnd type="triangle" w="sm" len="sm"/>
          </a:ln>
        </p:spPr>
      </p:cxnSp>
      <p:cxnSp>
        <p:nvCxnSpPr>
          <p:cNvPr id="24" name="直接箭头连接符 9">
            <a:extLst xmlns:a="http://schemas.openxmlformats.org/drawingml/2006/main">
              <a:ext uri="{FF2B5EF4-FFF2-40B4-BE49-F238E27FC236}">
                <a16:creationId xmlns:a16="http://schemas.microsoft.com/office/drawing/2014/main" id="{A7BC419B-93EC-4562-BD42-E094C712E041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619500" y="2709863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9CB6"/>
            </a:solidFill>
            <a:tailEnd type="triangle" w="sm" len="sm"/>
          </a:ln>
        </p:spPr>
      </p:cxnSp>
      <p:sp>
        <p:nvSpPr>
          <p:cNvPr id="20" name="项目背景与研究范围">
            <a:extLst xmlns:a="http://schemas.openxmlformats.org/drawingml/2006/main">
              <a:ext uri="{FF2B5EF4-FFF2-40B4-BE49-F238E27FC236}">
                <a16:creationId xmlns:a16="http://schemas.microsoft.com/office/drawing/2014/main" id="{8EDEEA32-D7D0-440F-98A0-38D0CFCF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项目目标：打通通信验证与 KPI 智能分析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项目以短时趋势预测与异常候选筛选辅助人工排查">
            <a:extLst xmlns:a="http://schemas.openxmlformats.org/drawingml/2006/main">
              <a:ext uri="{FF2B5EF4-FFF2-40B4-BE49-F238E27FC236}">
                <a16:creationId xmlns:a16="http://schemas.microsoft.com/office/drawing/2014/main" id="{33093F1B-AD75-45C5-B258-8700661D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围绕下一小时预测、异常筛选与交互分析构建完整工作流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29D845F1-5393-4703-9B95-47F1C649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02 / 14">
            <a:extLst xmlns:a="http://schemas.openxmlformats.org/drawingml/2006/main">
              <a:ext uri="{FF2B5EF4-FFF2-40B4-BE49-F238E27FC236}">
                <a16:creationId xmlns:a16="http://schemas.microsoft.com/office/drawing/2014/main" id="{B23F73FD-9A48-4D03-B12E-9A57F355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02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README.md；完整技术报告第 1 章；新版 docs/ARC">
            <a:extLst xmlns:a="http://schemas.openxmlformats.org/drawingml/2006/main">
              <a:ext uri="{FF2B5EF4-FFF2-40B4-BE49-F238E27FC236}">
                <a16:creationId xmlns:a16="http://schemas.microsoft.com/office/drawing/2014/main" id="{9DE170AA-6C62-433B-92EC-9DC9AC26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来源：README.md；完整技术报告第</a:t>
            </a: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 1 章；ARCHITECTURE.md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通信实验">
            <a:extLst xmlns:a="http://schemas.openxmlformats.org/drawingml/2006/main">
              <a:ext uri="{FF2B5EF4-FFF2-40B4-BE49-F238E27FC236}">
                <a16:creationId xmlns:a16="http://schemas.microsoft.com/office/drawing/2014/main" id="{BFA6E686-EBF3-4925-B8F1-95D4CCB1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通信实验</a:t>
            </a:r>
            <a:endParaRPr sz="22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free5GC + UERANSIM">
            <a:extLst xmlns:a="http://schemas.openxmlformats.org/drawingml/2006/main">
              <a:ext uri="{FF2B5EF4-FFF2-40B4-BE49-F238E27FC236}">
                <a16:creationId xmlns:a16="http://schemas.microsoft.com/office/drawing/2014/main" id="{2C55C3B3-D366-4F88-AA5B-CFD7E0AA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30480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free5GC + UERANSIM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注册与 PDU Session">
            <a:extLst xmlns:a="http://schemas.openxmlformats.org/drawingml/2006/main">
              <a:ext uri="{FF2B5EF4-FFF2-40B4-BE49-F238E27FC236}">
                <a16:creationId xmlns:a16="http://schemas.microsoft.com/office/drawing/2014/main" id="{A4F4A8D7-503F-4424-AD65-38396485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400300"/>
            <a:ext cx="3238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注册与 PDU Session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N2 / N3 抓包验证">
            <a:extLst xmlns:a="http://schemas.openxmlformats.org/drawingml/2006/main">
              <a:ext uri="{FF2B5EF4-FFF2-40B4-BE49-F238E27FC236}">
                <a16:creationId xmlns:a16="http://schemas.microsoft.com/office/drawing/2014/main" id="{63BBA00D-8447-41B5-A11A-85C0D2FC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00300"/>
            <a:ext cx="3524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N2 / N3 抓包验证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独立验证控制面和用户面流程">
            <a:extLst xmlns:a="http://schemas.openxmlformats.org/drawingml/2006/main">
              <a:ext uri="{FF2B5EF4-FFF2-40B4-BE49-F238E27FC236}">
                <a16:creationId xmlns:a16="http://schemas.microsoft.com/office/drawing/2014/main" id="{1435DC95-DEB9-4441-B48C-25A0ACEE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独立验证控制面和用户面流程</a:t>
            </a:r>
            <a:endParaRPr sz="1875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AI 分析系统">
            <a:extLst xmlns:a="http://schemas.openxmlformats.org/drawingml/2006/main">
              <a:ext uri="{FF2B5EF4-FFF2-40B4-BE49-F238E27FC236}">
                <a16:creationId xmlns:a16="http://schemas.microsoft.com/office/drawing/2014/main" id="{6EC37965-C5BC-47B7-A80F-F043BC6D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AI </a:t>
            </a:r>
            <a:r>
              <a: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分析系统</a:t>
            </a:r>
            <a:endParaRPr sz="22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公开 gotsf-ds KPI">
            <a:extLst xmlns:a="http://schemas.openxmlformats.org/drawingml/2006/main">
              <a:ext uri="{FF2B5EF4-FFF2-40B4-BE49-F238E27FC236}">
                <a16:creationId xmlns:a16="http://schemas.microsoft.com/office/drawing/2014/main" id="{1A4CEC41-A63A-4DE0-BDB0-C57411AB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30480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公开</a:t>
            </a: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gotsf</a:t>
            </a: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-ds KPI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下一小时预测与候选检测">
            <a:extLst xmlns:a="http://schemas.openxmlformats.org/drawingml/2006/main">
              <a:ext uri="{FF2B5EF4-FFF2-40B4-BE49-F238E27FC236}">
                <a16:creationId xmlns:a16="http://schemas.microsoft.com/office/drawing/2014/main" id="{08BBF228-F8A0-41EA-A00F-4123ED34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572000"/>
            <a:ext cx="3238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下一小时预测与候选检测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Streamlit 交互与导出">
            <a:extLst xmlns:a="http://schemas.openxmlformats.org/drawingml/2006/main">
              <a:ext uri="{FF2B5EF4-FFF2-40B4-BE49-F238E27FC236}">
                <a16:creationId xmlns:a16="http://schemas.microsoft.com/office/drawing/2014/main" id="{519F8201-9921-4EEA-B6C1-A6D5E910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72000"/>
            <a:ext cx="3524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Streamlit 交互与导出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两条证据来源独立，实时采集接口属于后续工程工作">
            <a:extLst xmlns:a="http://schemas.openxmlformats.org/drawingml/2006/main">
              <a:ext uri="{FF2B5EF4-FFF2-40B4-BE49-F238E27FC236}">
                <a16:creationId xmlns:a16="http://schemas.microsoft.com/office/drawing/2014/main" id="{0A7B37C4-BCCC-4759-A677-EEC3A4C5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通信侧验证 N2/N3 链路，AI 侧完成波束级 KPI 预测和分析</a:t>
            </a:r>
            <a:endParaRPr sz="195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717208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9" name="直接箭头连接符 11">
            <a:extLst xmlns:a="http://schemas.openxmlformats.org/drawingml/2006/main">
              <a:ext uri="{FF2B5EF4-FFF2-40B4-BE49-F238E27FC236}">
                <a16:creationId xmlns:a16="http://schemas.microsoft.com/office/drawing/2014/main" id="{F0E32294-F07B-42AE-8AF3-3FF7F5802392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15375" y="2352675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9CB6"/>
            </a:solidFill>
            <a:tailEnd type="triangle" w="sm" len="sm"/>
          </a:ln>
        </p:spPr>
      </p:cxnSp>
      <p:cxnSp>
        <p:nvCxnSpPr>
          <p:cNvPr id="20" name="直接箭头连接符 10">
            <a:extLst xmlns:a="http://schemas.openxmlformats.org/drawingml/2006/main">
              <a:ext uri="{FF2B5EF4-FFF2-40B4-BE49-F238E27FC236}">
                <a16:creationId xmlns:a16="http://schemas.microsoft.com/office/drawing/2014/main" id="{467DAFA3-45EB-4931-9B20-840B7D28B1F4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524500" y="23526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9CB6"/>
            </a:solidFill>
            <a:tailEnd type="triangle" w="sm" len="sm"/>
          </a:ln>
        </p:spPr>
      </p:cxnSp>
      <p:cxnSp>
        <p:nvCxnSpPr>
          <p:cNvPr id="21" name="直接箭头连接符 9">
            <a:extLst xmlns:a="http://schemas.openxmlformats.org/drawingml/2006/main">
              <a:ext uri="{FF2B5EF4-FFF2-40B4-BE49-F238E27FC236}">
                <a16:creationId xmlns:a16="http://schemas.microsoft.com/office/drawing/2014/main" id="{7DE4DD31-DDAC-4EFB-8C94-7B78389A83DE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428875" y="23526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9CB6"/>
            </a:solidFill>
            <a:tailEnd type="triangle" w="sm" len="sm"/>
          </a:ln>
        </p:spPr>
      </p:cxnSp>
      <p:sp>
        <p:nvSpPr>
          <p:cNvPr id="17" name="5G SA 仿真与协议分析">
            <a:extLst xmlns:a="http://schemas.openxmlformats.org/drawingml/2006/main">
              <a:ext uri="{FF2B5EF4-FFF2-40B4-BE49-F238E27FC236}">
                <a16:creationId xmlns:a16="http://schemas.microsoft.com/office/drawing/2014/main" id="{4D5D367B-5099-4583-92FE-5BFC3063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5G SA 仿真与协议分析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控制面配置的 TEID 与 N3 用户面报文一致，支持链路验证">
            <a:extLst xmlns:a="http://schemas.openxmlformats.org/drawingml/2006/main">
              <a:ext uri="{FF2B5EF4-FFF2-40B4-BE49-F238E27FC236}">
                <a16:creationId xmlns:a16="http://schemas.microsoft.com/office/drawing/2014/main" id="{C8B09342-7BF8-4C92-BE9F-81EAF403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控制面配置的 TEID 与 N3 用户面报文一致，支持链路验证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888F4C70-6ADB-46BE-A578-FAA2EC01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03 / 14">
            <a:extLst xmlns:a="http://schemas.openxmlformats.org/drawingml/2006/main">
              <a:ext uri="{FF2B5EF4-FFF2-40B4-BE49-F238E27FC236}">
                <a16:creationId xmlns:a16="http://schemas.microsoft.com/office/drawing/2014/main" id="{3893CBE1-28B9-4A51-97C0-9E6ADE9F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03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完整技术报告第 2 章；前期协议分析报告的 PCAP Frame ">
            <a:extLst xmlns:a="http://schemas.openxmlformats.org/drawingml/2006/main">
              <a:ext uri="{FF2B5EF4-FFF2-40B4-BE49-F238E27FC236}">
                <a16:creationId xmlns:a16="http://schemas.microsoft.com/office/drawing/2014/main" id="{0151FF59-BD72-4679-9253-ED014289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来源：完整技术报告第 2 章；前期协议分析报告的 PCAP Frame 记录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UE&#10;10.60.0.1">
            <a:extLst xmlns:a="http://schemas.openxmlformats.org/drawingml/2006/main">
              <a:ext uri="{FF2B5EF4-FFF2-40B4-BE49-F238E27FC236}">
                <a16:creationId xmlns:a16="http://schemas.microsoft.com/office/drawing/2014/main" id="{C61AC297-04ED-4008-8A22-476D34FF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24050"/>
            <a:ext cx="1857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UE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10.60.0.1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gNB&#10;192.168.56.102">
            <a:extLst xmlns:a="http://schemas.openxmlformats.org/drawingml/2006/main">
              <a:ext uri="{FF2B5EF4-FFF2-40B4-BE49-F238E27FC236}">
                <a16:creationId xmlns:a16="http://schemas.microsoft.com/office/drawing/2014/main" id="{697A2466-CC3D-464C-8089-2A7046CF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924050"/>
            <a:ext cx="25241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gNB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192.168.56.102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UPF&#10;192.168.56.101">
            <a:extLst xmlns:a="http://schemas.openxmlformats.org/drawingml/2006/main">
              <a:ext uri="{FF2B5EF4-FFF2-40B4-BE49-F238E27FC236}">
                <a16:creationId xmlns:a16="http://schemas.microsoft.com/office/drawing/2014/main" id="{72C6A700-3317-44D7-8D89-95B1CFE0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24050"/>
            <a:ext cx="25241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UPF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192.168.56.101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外网&#10;8.8.8.8">
            <a:extLst xmlns:a="http://schemas.openxmlformats.org/drawingml/2006/main">
              <a:ext uri="{FF2B5EF4-FFF2-40B4-BE49-F238E27FC236}">
                <a16:creationId xmlns:a16="http://schemas.microsoft.com/office/drawing/2014/main" id="{4D8D749B-468B-4A55-80C7-BC0119AC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24050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外网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8.8.8.8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N3：GTP-U / UDP 2152">
            <a:extLst xmlns:a="http://schemas.openxmlformats.org/drawingml/2006/main">
              <a:ext uri="{FF2B5EF4-FFF2-40B4-BE49-F238E27FC236}">
                <a16:creationId xmlns:a16="http://schemas.microsoft.com/office/drawing/2014/main" id="{0BFC4D0D-26F8-4CB5-B28E-5E355A52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0512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6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6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6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6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6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6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6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6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6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N3：GTP-U / UDP 2152</a:t>
            </a:r>
            <a:endParaRPr sz="165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N2 连接 gNB 与 AMF，SMF 管理会话">
            <a:extLst xmlns:a="http://schemas.openxmlformats.org/drawingml/2006/main">
              <a:ext uri="{FF2B5EF4-FFF2-40B4-BE49-F238E27FC236}">
                <a16:creationId xmlns:a16="http://schemas.microsoft.com/office/drawing/2014/main" id="{43C7877A-F794-4279-9C7D-18F20EE3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N2 连接 gNB 与 AMF，SMF 管理会话</a:t>
            </a:r>
            <a:endParaRPr sz="16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33" name="表格 14">
            <a:extLst xmlns:a="http://schemas.openxmlformats.org/drawingml/2006/main">
              <a:ext uri="{FF2B5EF4-FFF2-40B4-BE49-F238E27FC236}">
                <a16:creationId xmlns:a16="http://schemas.microsoft.com/office/drawing/2014/main" id="{4C44B294-0BD9-4563-B5BB-01742454CC7B}"/>
              </a:ext>
            </a:extLst>
          </p:cNvPr>
          <p:cNvGraphicFramePr/>
          <p:nvPr/>
        </p:nvGraphicFramePr>
        <p:xfrm>
          <a:off xmlns:a="http://schemas.openxmlformats.org/drawingml/2006/main" x="571500" y="3429000"/>
          <a:ext xmlns:a="http://schemas.openxmlformats.org/drawingml/2006/main" cx="11049000" cy="2457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5048250"/>
                <a:gridCol w="3667125"/>
              </a:tblGrid>
              <a:tr h="49149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抓包证据</a:t>
                      </a:r>
                      <a:endParaRPr sz="17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关键报文或字段</a:t>
                      </a:r>
                      <a:endParaRPr sz="17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验证内容</a:t>
                      </a:r>
                      <a:endParaRPr sz="17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Frame 564 / 566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NGSetup Request / Response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NG 接口初始化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Frame 604–608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注册、认证与安全模式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UE 接入控制流程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Frame 617 / 618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N3 地址；UL 0x2 / DL 0x1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PDU Session 资源配置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Frame 646 / 647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GTP-U 承载 ICMP 往返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用户面双向通信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16" name="UE 隧道接口 ping 约 10–12 ms，仅描述该实验的基本连通性">
            <a:extLst xmlns:a="http://schemas.openxmlformats.org/drawingml/2006/main">
              <a:ext uri="{FF2B5EF4-FFF2-40B4-BE49-F238E27FC236}">
                <a16:creationId xmlns:a16="http://schemas.microsoft.com/office/drawing/2014/main" id="{89CDA38B-B997-468B-A33E-2B0159D9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579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UE 隧道接口成功访问外网，ping 往返约 10–12 ms</a:t>
            </a:r>
            <a:endParaRPr sz="1425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7493898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PI 数据与时序预处理">
            <a:extLst xmlns:a="http://schemas.openxmlformats.org/drawingml/2006/main">
              <a:ext uri="{FF2B5EF4-FFF2-40B4-BE49-F238E27FC236}">
                <a16:creationId xmlns:a16="http://schemas.microsoft.com/office/drawing/2014/main" id="{75B8200C-8124-4200-8BE7-7C48AF69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KPI 数据与时序预处理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按波束对齐并按目标时间切分，正式测试期保持独立">
            <a:extLst xmlns:a="http://schemas.openxmlformats.org/drawingml/2006/main">
              <a:ext uri="{FF2B5EF4-FFF2-40B4-BE49-F238E27FC236}">
                <a16:creationId xmlns:a16="http://schemas.microsoft.com/office/drawing/2014/main" id="{040368F8-8AF3-47B1-A876-18271274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按目标时间切分，各场景 scaler 仅在内部训练前缀拟合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CA9F4125-F834-4CCE-96CF-515EE784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04 / 14">
            <a:extLst xmlns:a="http://schemas.openxmlformats.org/drawingml/2006/main">
              <a:ext uri="{FF2B5EF4-FFF2-40B4-BE49-F238E27FC236}">
                <a16:creationId xmlns:a16="http://schemas.microsoft.com/office/drawing/2014/main" id="{3498301F-ED93-4DCA-AF50-DD6B69DB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04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reports/raw_data_audit_summary.cs">
            <a:extLst xmlns:a="http://schemas.openxmlformats.org/drawingml/2006/main">
              <a:ext uri="{FF2B5EF4-FFF2-40B4-BE49-F238E27FC236}">
                <a16:creationId xmlns:a16="http://schemas.microsoft.com/office/drawing/2014/main" id="{B72D1CE5-AC4A-4569-BB04-39406927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来源：《项目技术报告》第4–5、10页；raw_data_audit.json；正式实验 protocol.json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18" name="表格 5">
            <a:extLst xmlns:a="http://schemas.openxmlformats.org/drawingml/2006/main">
              <a:ext uri="{FF2B5EF4-FFF2-40B4-BE49-F238E27FC236}">
                <a16:creationId xmlns:a16="http://schemas.microsoft.com/office/drawing/2014/main" id="{5F020925-E287-47D0-A5F5-41BFA45A036B}"/>
              </a:ext>
            </a:extLst>
          </p:cNvPr>
          <p:cNvGraphicFramePr/>
          <p:nvPr/>
        </p:nvGraphicFramePr>
        <p:xfrm>
          <a:off xmlns:a="http://schemas.openxmlformats.org/drawingml/2006/main" x="571500" y="1771650"/>
          <a:ext xmlns:a="http://schemas.openxmlformats.org/drawingml/2006/main" cx="11049000" cy="2333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8715375"/>
              </a:tblGrid>
              <a:tr h="4667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数据维度</a:t>
                      </a:r>
                      <a:endParaRPr sz="18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实际记录</a:t>
                      </a:r>
                      <a:endParaRPr sz="18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空间与时间</a:t>
                      </a:r>
                      <a:endParaRPr sz="18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 站 / 90 cell / 2,880 beam / 840 小时</a:t>
                      </a:r>
                      <a:endParaRPr sz="18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整理后数据</a:t>
                      </a:r>
                      <a:endParaRPr sz="18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2,419,200 条波束小时观测</a:t>
                      </a:r>
                      <a:endParaRPr sz="18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四项 KPI</a:t>
                      </a:r>
                      <a:endParaRPr sz="18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DLPRB / DLThpVol / DLThpTime / MR_number</a:t>
                      </a:r>
                      <a:endParaRPr sz="18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审计结果</a:t>
                      </a:r>
                      <a:endParaRPr sz="18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四表均缺失 0、重复时间 0、步长 1</a:t>
                      </a:r>
                      <a:endParaRPr sz="18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7" name="训练原始时段&#10;Time 0–671">
            <a:extLst xmlns:a="http://schemas.openxmlformats.org/drawingml/2006/main">
              <a:ext uri="{FF2B5EF4-FFF2-40B4-BE49-F238E27FC236}">
                <a16:creationId xmlns:a16="http://schemas.microsoft.com/office/drawing/2014/main" id="{513EDAB4-0870-4D88-A2FE-B9593017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05325"/>
            <a:ext cx="647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defPPr>
              <a:defRPr sz="1800"/>
            </a:defPPr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训练目标 169–587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内部验证目标 588–671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正式测试时段&#10;Time 672–839">
            <a:extLst xmlns:a="http://schemas.openxmlformats.org/drawingml/2006/main">
              <a:ext uri="{FF2B5EF4-FFF2-40B4-BE49-F238E27FC236}">
                <a16:creationId xmlns:a16="http://schemas.microsoft.com/office/drawing/2014/main" id="{4124CAF2-D737-4CEF-9C33-00EE163F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505325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defPPr>
              <a:defRPr sz="1800"/>
            </a:defPPr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留出评价目标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Time 672–839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训练段拟合变换参数，再应用于后续数据">
            <a:extLst xmlns:a="http://schemas.openxmlformats.org/drawingml/2006/main">
              <a:ext uri="{FF2B5EF4-FFF2-40B4-BE49-F238E27FC236}">
                <a16:creationId xmlns:a16="http://schemas.microsoft.com/office/drawing/2014/main" id="{49D1CF37-476A-48F7-95B0-2E3FB702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/>
            </a:defPPr>
            <a:lvl1pPr algn="l">
              <a:buNone/>
              <a:defRPr sz="187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7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7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7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7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7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7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7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7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留出场景 scaler 拟合范围：Time 0–587，随后冻结应用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历史 DL scaler 使用 0–671，覆盖内部验证段 588–67">
            <a:extLst xmlns:a="http://schemas.openxmlformats.org/drawingml/2006/main">
              <a:ext uri="{FF2B5EF4-FFF2-40B4-BE49-F238E27FC236}">
                <a16:creationId xmlns:a16="http://schemas.microsoft.com/office/drawing/2014/main" id="{DFE725C5-743E-4CF4-8B7F-6467FFE5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7692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/>
            </a:defPPr>
            <a:lvl1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逐小时一步预测；672–839 留出时段曾用于项目选型</a:t>
            </a:r>
            <a:endParaRPr sz="150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2111761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传统机器学习与深度学习预测">
            <a:extLst xmlns:a="http://schemas.openxmlformats.org/drawingml/2006/main">
              <a:ext uri="{FF2B5EF4-FFF2-40B4-BE49-F238E27FC236}">
                <a16:creationId xmlns:a16="http://schemas.microsoft.com/office/drawing/2014/main" id="{BE2A938F-9E0E-4C3C-8402-3BE02661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正式预测器与输入协议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统一预测下一小时四项 KPI，输入和训练预算的差异须保留">
            <a:extLst xmlns:a="http://schemas.openxmlformats.org/drawingml/2006/main">
              <a:ext uri="{FF2B5EF4-FFF2-40B4-BE49-F238E27FC236}">
                <a16:creationId xmlns:a16="http://schemas.microsoft.com/office/drawing/2014/main" id="{48B45CAD-C572-466A-B16E-509849EC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RF、XGBoost、GRU 使用相同训练标签与目标时段，预测 t+1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FCB85453-0025-4C2A-930F-91850D70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05 / 14">
            <a:extLst xmlns:a="http://schemas.openxmlformats.org/drawingml/2006/main">
              <a:ext uri="{FF2B5EF4-FFF2-40B4-BE49-F238E27FC236}">
                <a16:creationId xmlns:a16="http://schemas.microsoft.com/office/drawing/2014/main" id="{F4512E6F-8695-4D99-828A-3492E10F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05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reports/model_run_config.json；w3_">
            <a:extLst xmlns:a="http://schemas.openxmlformats.org/drawingml/2006/main">
              <a:ext uri="{FF2B5EF4-FFF2-40B4-BE49-F238E27FC236}">
                <a16:creationId xmlns:a16="http://schemas.microsoft.com/office/drawing/2014/main" id="{42F0EE1E-0EFA-4164-BDE3-574439AB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来源：《项目技术报告》第5–7页；正式实验 protocol.json；ARCHITECTURE.md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16" name="表格 5">
            <a:extLst xmlns:a="http://schemas.openxmlformats.org/drawingml/2006/main">
              <a:ext uri="{FF2B5EF4-FFF2-40B4-BE49-F238E27FC236}">
                <a16:creationId xmlns:a16="http://schemas.microsoft.com/office/drawing/2014/main" id="{EE2A807A-ABEA-4497-A21C-90E4C19145AD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36423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4619625"/>
                <a:gridCol w="4619625"/>
              </a:tblGrid>
              <a:tr h="5905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比较项</a:t>
                      </a:r>
                      <a:endParaRPr sz="16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树模型</a:t>
                      </a:r>
                      <a:endParaRPr sz="16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GRU</a:t>
                      </a:r>
                      <a:endParaRPr sz="16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正式模型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RandomForest、XGBoost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单层 GRU，hidden=32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输入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KPI × {t, t−1, t−2, t−24, t−168}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共 20 维，同一 beam 对齐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截至 t 的连续 24×4 序列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拼接 t−168 的 4 维季节向量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训练与验证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共同抽样 60,000 条训练标签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固定参数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相同 60,000 条训练标签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内部验证 12,000 条用于早停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输出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 KPI 独立拟合，单输出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联合输出四项 KPI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留出评价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Time 672–839，483,840 条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Time 672–839，483,840 条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评价：MAE 关注平均偏差，RMSE 对大误差更敏感，R² 描述拟合程度">
            <a:extLst xmlns:a="http://schemas.openxmlformats.org/drawingml/2006/main">
              <a:ext uri="{FF2B5EF4-FFF2-40B4-BE49-F238E27FC236}">
                <a16:creationId xmlns:a16="http://schemas.microsoft.com/office/drawing/2014/main" id="{958A8875-51E0-4AA8-BA4B-7CE7CE21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769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/>
            </a:defPPr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选型以 MAE 为主；DLThpVol 若重视大误差，则按 RMSE 选择 RF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历史结果使用原始 KPI 数值尺度；训练采样、特征形式与验证策略并非完全">
            <a:extLst xmlns:a="http://schemas.openxmlformats.org/drawingml/2006/main">
              <a:ext uri="{FF2B5EF4-FFF2-40B4-BE49-F238E27FC236}">
                <a16:creationId xmlns:a16="http://schemas.microsoft.com/office/drawing/2014/main" id="{94AE9EB8-A6D3-4D59-AF55-FD3EB425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150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/>
            </a:defPPr>
            <a:lvl1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固定参数比较；RF 另做 TPE 12 次搜索，搜索最优配置未用于本轮复评</a:t>
            </a:r>
            <a:endParaRPr sz="13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2988483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正式模型性能比较">
            <a:extLst xmlns:a="http://schemas.openxmlformats.org/drawingml/2006/main">
              <a:ext uri="{FF2B5EF4-FFF2-40B4-BE49-F238E27FC236}">
                <a16:creationId xmlns:a16="http://schemas.microsoft.com/office/drawing/2014/main" id="{7ABF2DB5-F440-45D3-B26B-893E1FBF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正式模型性能比较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GRU 的四项 MAE 最低，DLThpVol 的 RMSE 与 R² ">
            <a:extLst xmlns:a="http://schemas.openxmlformats.org/drawingml/2006/main">
              <a:ext uri="{FF2B5EF4-FFF2-40B4-BE49-F238E27FC236}">
                <a16:creationId xmlns:a16="http://schemas.microsoft.com/office/drawing/2014/main" id="{B5EDB171-E92F-4285-A595-3A8A8404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GRU 的四项 MAE 最低，DLThpVol 的 RMSE 与 R² 由 RandomForest 领先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9C52E8A1-EAAE-4434-9622-F9216AEC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</p:sp>
      <p:sp>
        <p:nvSpPr>
          <p:cNvPr id="4" name="06 / 14">
            <a:extLst xmlns:a="http://schemas.openxmlformats.org/drawingml/2006/main">
              <a:ext uri="{FF2B5EF4-FFF2-40B4-BE49-F238E27FC236}">
                <a16:creationId xmlns:a16="http://schemas.microsoft.com/office/drawing/2014/main" id="{EFB95572-E571-4DED-A880-8CB44ECB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06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reports/week3/w3_ml_dl_all_metric">
            <a:extLst xmlns:a="http://schemas.openxmlformats.org/drawingml/2006/main">
              <a:ext uri="{FF2B5EF4-FFF2-40B4-BE49-F238E27FC236}">
                <a16:creationId xmlns:a16="http://schemas.microsoft.com/office/drawing/2014/main" id="{1A3EFFBA-7B83-413B-A871-84408C0E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来源：《项目技术报告》第7–8页，表7 / 图2；正式实验 metrics.csv（seed42）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正式测试 R²">
            <a:extLst xmlns:a="http://schemas.openxmlformats.org/drawingml/2006/main">
              <a:ext uri="{FF2B5EF4-FFF2-40B4-BE49-F238E27FC236}">
                <a16:creationId xmlns:a16="http://schemas.microsoft.com/office/drawing/2014/main" id="{37BF8331-A2F1-4935-9935-0D2E0985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573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/>
            </a:defPPr>
            <a:lvl1pPr algn="l"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留出 R²（seed42，n=483,840）</a:t>
            </a:r>
            <a:endParaRPr sz="16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21" name="表格 7">
            <a:extLst xmlns:a="http://schemas.openxmlformats.org/drawingml/2006/main">
              <a:ext uri="{FF2B5EF4-FFF2-40B4-BE49-F238E27FC236}">
                <a16:creationId xmlns:a16="http://schemas.microsoft.com/office/drawing/2014/main" id="{7DDED3A8-CE55-408D-B924-57828BB7EBCD}"/>
              </a:ext>
            </a:extLst>
          </p:cNvPr>
          <p:cNvGraphicFramePr/>
          <p:nvPr/>
        </p:nvGraphicFramePr>
        <p:xfrm>
          <a:off xmlns:a="http://schemas.openxmlformats.org/drawingml/2006/main" x="7524750" y="1971675"/>
          <a:ext xmlns:a="http://schemas.openxmlformats.org/drawingml/2006/main" cx="4095750" cy="2971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333500"/>
                <a:gridCol w="1333500"/>
              </a:tblGrid>
              <a:tr h="5943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KPI</a:t>
                      </a:r>
                      <a:endParaRPr sz="15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GRU MAE</a:t>
                      </a:r>
                      <a:endParaRPr sz="15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最优 RMSE</a:t>
                      </a:r>
                      <a:endParaRPr sz="15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DLPRB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0.247765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GRU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0.476520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DLThpVol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0.211055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RF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0.478479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DLThpTime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0.236438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GRU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0.519272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MR_number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0.207566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GRU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0.366875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9" name="GRU 对最佳传统 MAE 的相对改善">
            <a:extLst xmlns:a="http://schemas.openxmlformats.org/drawingml/2006/main">
              <a:ext uri="{FF2B5EF4-FFF2-40B4-BE49-F238E27FC236}">
                <a16:creationId xmlns:a16="http://schemas.microsoft.com/office/drawing/2014/main" id="{E9213EC1-A3AD-4547-9EB6-9CA87D9C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4355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/>
            </a:defPPr>
            <a:lvl1pPr algn="l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MAE / RMSE 为原始数值尺度；GRU 相对 RF 的 MAE 降幅</a:t>
            </a:r>
            <a:endParaRPr sz="16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DLPRB 6.19%     DLThpVol 1.46%     D">
            <a:extLst xmlns:a="http://schemas.openxmlformats.org/drawingml/2006/main">
              <a:ext uri="{FF2B5EF4-FFF2-40B4-BE49-F238E27FC236}">
                <a16:creationId xmlns:a16="http://schemas.microsoft.com/office/drawing/2014/main" id="{DCF03292-6C9E-4E68-AEED-33F826DF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/>
            </a:defPPr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DLPRB 7.05%     DLThpVol 0.87%     DLThpTime 4.59%     MR_number 10.15%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22" name="Chart">
            <a:extLst xmlns:a="http://schemas.openxmlformats.org/drawingml/2006/main">
              <a:ext uri="{FF2B5EF4-FFF2-40B4-BE49-F238E27FC236}">
                <a16:creationId xmlns:a16="http://schemas.microsoft.com/office/drawing/2014/main" id="{D1743E76-960A-415C-AFD7-58574CEBAA7E}"/>
              </a:ext>
            </a:extLst>
          </p:cNvPr>
          <p:cNvGraphicFramePr/>
          <p:nvPr/>
        </p:nvGraphicFramePr>
        <p:xfrm>
          <a:off xmlns:a="http://schemas.openxmlformats.org/drawingml/2006/main" x="523875" y="2047875"/>
          <a:ext xmlns:a="http://schemas.openxmlformats.org/drawingml/2006/main" cx="6667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2a3b9e0a4d44ff"/>
          </a:graphicData>
        </a:graphic>
      </p:graphicFrame>
    </p:spTree>
    <p:extLst>
      <p:ext uri="{BB962C8B-B14F-4D97-AF65-F5344CB8AC3E}">
        <p14:creationId xmlns:p14="http://schemas.microsoft.com/office/powerpoint/2010/main" val="7684342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历史评估结果在 Web 中可复查">
            <a:extLst xmlns:a="http://schemas.openxmlformats.org/drawingml/2006/main">
              <a:ext uri="{FF2B5EF4-FFF2-40B4-BE49-F238E27FC236}">
                <a16:creationId xmlns:a16="http://schemas.microsoft.com/office/drawing/2014/main" id="{08D2E6E4-253A-4AFC-862F-D847C867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稳健性与显著性验证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模型表、R² 对比与真实值曲线均对应正式历史测试集">
            <a:extLst xmlns:a="http://schemas.openxmlformats.org/drawingml/2006/main">
              <a:ext uri="{FF2B5EF4-FFF2-40B4-BE49-F238E27FC236}">
                <a16:creationId xmlns:a16="http://schemas.microsoft.com/office/drawing/2014/main" id="{E49D6DE0-65DE-437D-BBEB-2AD69D9B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三折与双种子支持 GRU 选型，DLThpVol 需结合误差目标判断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1EE7BB00-6337-4805-9C09-0DC060F7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07 / 14">
            <a:extLst xmlns:a="http://schemas.openxmlformats.org/drawingml/2006/main">
              <a:ext uri="{FF2B5EF4-FFF2-40B4-BE49-F238E27FC236}">
                <a16:creationId xmlns:a16="http://schemas.microsoft.com/office/drawing/2014/main" id="{77320BDC-4B79-4C0E-84E3-8A72E596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07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截图 02_model_management-1 / -2 / -">
            <a:extLst xmlns:a="http://schemas.openxmlformats.org/drawingml/2006/main">
              <a:ext uri="{FF2B5EF4-FFF2-40B4-BE49-F238E27FC236}">
                <a16:creationId xmlns:a16="http://schemas.microsoft.com/office/drawing/2014/main" id="{78222B41-AA5B-446D-B045-D9BF01B1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来源：《项目技术报告》第8–10页，表8–10；walkforward_summary / holdout_significance / seed_summary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cv-title">
            <a:extLst xmlns:a="http://schemas.openxmlformats.org/drawingml/2006/main">
              <a:ext uri="{FF2B5EF4-FFF2-40B4-BE49-F238E27FC236}">
                <a16:creationId xmlns:a16="http://schemas.microsoft.com/office/drawing/2014/main" id="{13F165E9-8F38-44CE-BA34-A022AC51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24025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defPPr>
            <a:lvl1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三折扩展窗口：MAE 均值 ± SD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14" name="walkforward-mae">
            <a:extLst xmlns:a="http://schemas.openxmlformats.org/drawingml/2006/main">
              <a:ext uri="{FF2B5EF4-FFF2-40B4-BE49-F238E27FC236}">
                <a16:creationId xmlns:a16="http://schemas.microsoft.com/office/drawing/2014/main" id="{C77F5DFB-1033-43D8-B021-32A32DCC3DE2}"/>
              </a:ext>
            </a:extLst>
          </p:cNvPr>
          <p:cNvGraphicFramePr/>
          <p:nvPr/>
        </p:nvGraphicFramePr>
        <p:xfrm>
          <a:off xmlns:a="http://schemas.openxmlformats.org/drawingml/2006/main" x="571500" y="2228850"/>
          <a:ext xmlns:a="http://schemas.openxmlformats.org/drawingml/2006/main" cx="542925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85875"/>
                <a:gridCol w="1381125"/>
                <a:gridCol w="1381125"/>
                <a:gridCol w="1381125"/>
              </a:tblGrid>
              <a:tr h="476250"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KPI</a:t>
                      </a:r>
                      <a:endParaRPr sz="14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L w="6668">
                      <a:solidFill>
                        <a:srgbClr val="DCE6EF"/>
                      </a:solidFill>
                      <a:prstDash val="solid"/>
                    </a:lnL>
                    <a:lnR w="6668">
                      <a:solidFill>
                        <a:srgbClr val="DCE6EF"/>
                      </a:solidFill>
                      <a:prstDash val="solid"/>
                    </a:lnR>
                    <a:lnT w="6668">
                      <a:solidFill>
                        <a:srgbClr val="DCE6EF"/>
                      </a:solidFill>
                      <a:prstDash val="solid"/>
                    </a:lnT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GRU</a:t>
                      </a:r>
                      <a:endParaRPr sz="14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T w="6668">
                      <a:solidFill>
                        <a:srgbClr val="DCE6EF"/>
                      </a:solidFill>
                      <a:prstDash val="solid"/>
                    </a:lnT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RF</a:t>
                      </a:r>
                      <a:endParaRPr sz="14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T w="6668">
                      <a:solidFill>
                        <a:srgbClr val="DCE6EF"/>
                      </a:solidFill>
                      <a:prstDash val="solid"/>
                    </a:lnT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XGBoost</a:t>
                      </a:r>
                      <a:endParaRPr sz="14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T w="6668">
                      <a:solidFill>
                        <a:srgbClr val="DCE6EF"/>
                      </a:solidFill>
                      <a:prstDash val="solid"/>
                    </a:lnT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</a:tr>
              <a:tr h="476250"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DLPRB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L w="6668">
                      <a:solidFill>
                        <a:srgbClr val="DCE6EF"/>
                      </a:solidFill>
                      <a:prstDash val="solid"/>
                    </a:lnL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0.2553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± 0.0061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0.2695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± 0.0029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0.2715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± 0.0034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DLThpVol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L w="6668">
                      <a:solidFill>
                        <a:srgbClr val="DCE6EF"/>
                      </a:solidFill>
                      <a:prstDash val="solid"/>
                    </a:lnL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0.2287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± 0.0127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0.2381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± 0.0152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0.2440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± 0.0137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</a:tr>
              <a:tr h="476250"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DLThpTime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L w="6668">
                      <a:solidFill>
                        <a:srgbClr val="DCE6EF"/>
                      </a:solidFill>
                      <a:prstDash val="solid"/>
                    </a:lnL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0.2515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± 0.0084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0.2628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± 0.0125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0.2659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± 0.0125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MR_number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L w="6668">
                      <a:solidFill>
                        <a:srgbClr val="DCE6EF"/>
                      </a:solidFill>
                      <a:prstDash val="solid"/>
                    </a:lnL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0.2121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± 0.0028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0.2294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± 0.0016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0.2291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± 0.0021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15" name="sig-title">
            <a:extLst xmlns:a="http://schemas.openxmlformats.org/drawingml/2006/main">
              <a:ext uri="{FF2B5EF4-FFF2-40B4-BE49-F238E27FC236}">
                <a16:creationId xmlns:a16="http://schemas.microsoft.com/office/drawing/2014/main" id="{A04E9363-2EF1-412E-8A8A-55A408CC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24025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defPPr>
            <a:lvl1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留出配对检验：GRU 相对 RF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16" name="hac-holm">
            <a:extLst xmlns:a="http://schemas.openxmlformats.org/drawingml/2006/main">
              <a:ext uri="{FF2B5EF4-FFF2-40B4-BE49-F238E27FC236}">
                <a16:creationId xmlns:a16="http://schemas.microsoft.com/office/drawing/2014/main" id="{01646EC6-2879-4CE8-829A-A05798152060}"/>
              </a:ext>
            </a:extLst>
          </p:cNvPr>
          <p:cNvGraphicFramePr/>
          <p:nvPr/>
        </p:nvGraphicFramePr>
        <p:xfrm>
          <a:off xmlns:a="http://schemas.openxmlformats.org/drawingml/2006/main" x="6286500" y="2228850"/>
          <a:ext xmlns:a="http://schemas.openxmlformats.org/drawingml/2006/main" cx="53340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1809750"/>
                <a:gridCol w="1809750"/>
              </a:tblGrid>
              <a:tr h="476250"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KPI</a:t>
                      </a:r>
                      <a:endParaRPr sz="15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L w="6668">
                      <a:solidFill>
                        <a:srgbClr val="DCE6EF"/>
                      </a:solidFill>
                      <a:prstDash val="solid"/>
                    </a:lnL>
                    <a:lnR w="6668">
                      <a:solidFill>
                        <a:srgbClr val="DCE6EF"/>
                      </a:solidFill>
                      <a:prstDash val="solid"/>
                    </a:lnR>
                    <a:lnT w="6668">
                      <a:solidFill>
                        <a:srgbClr val="DCE6EF"/>
                      </a:solidFill>
                      <a:prstDash val="solid"/>
                    </a:lnT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MAE 的 Holm p</a:t>
                      </a:r>
                      <a:endParaRPr sz="15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T w="6668">
                      <a:solidFill>
                        <a:srgbClr val="DCE6EF"/>
                      </a:solidFill>
                      <a:prstDash val="solid"/>
                    </a:lnT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MSE 的 Holm p</a:t>
                      </a:r>
                      <a:endParaRPr sz="15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T w="6668">
                      <a:solidFill>
                        <a:srgbClr val="DCE6EF"/>
                      </a:solidFill>
                      <a:prstDash val="solid"/>
                    </a:lnT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</a:tr>
              <a:tr h="476250"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DLPRB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L w="6668">
                      <a:solidFill>
                        <a:srgbClr val="DCE6EF"/>
                      </a:solidFill>
                      <a:prstDash val="solid"/>
                    </a:lnL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7.46e−103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5.21e−83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DLThpVol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L w="6668">
                      <a:solidFill>
                        <a:srgbClr val="DCE6EF"/>
                      </a:solidFill>
                      <a:prstDash val="solid"/>
                    </a:lnL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0.354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0.354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</a:tr>
              <a:tr h="476250"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DLThpTime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L w="6668">
                      <a:solidFill>
                        <a:srgbClr val="DCE6EF"/>
                      </a:solidFill>
                      <a:prstDash val="solid"/>
                    </a:lnL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2.68e−32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2.64e−15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MR_number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L w="6668">
                      <a:solidFill>
                        <a:srgbClr val="DCE6EF"/>
                      </a:solidFill>
                      <a:prstDash val="solid"/>
                    </a:lnL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5.82e−98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15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1.23e−62</a:t>
                      </a:r>
                      <a:endParaRPr sz="15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85725" marR="66675" marT="47625" marB="47625" anchor="ctr">
                    <a:lnR w="6668">
                      <a:solidFill>
                        <a:srgbClr val="DCE6EF"/>
                      </a:solidFill>
                      <a:prstDash val="solid"/>
                    </a:lnR>
                    <a:lnB w="6668">
                      <a:solidFill>
                        <a:srgbClr val="DCE6EF"/>
                      </a:solidFill>
                      <a:prstDash val="soli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17" name="cv-range">
            <a:extLst xmlns:a="http://schemas.openxmlformats.org/drawingml/2006/main">
              <a:ext uri="{FF2B5EF4-FFF2-40B4-BE49-F238E27FC236}">
                <a16:creationId xmlns:a16="http://schemas.microsoft.com/office/drawing/2014/main" id="{502CE2A9-A402-40DD-ABB6-3DFA15D0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defPPr>
            <a:lvl1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外层目标：384–479 / 480–575 / 576–671</a:t>
            </a:r>
            <a:endParaRPr sz="13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cv-conclusion">
            <a:extLst xmlns:a="http://schemas.openxmlformats.org/drawingml/2006/main">
              <a:ext uri="{FF2B5EF4-FFF2-40B4-BE49-F238E27FC236}">
                <a16:creationId xmlns:a16="http://schemas.microsoft.com/office/drawing/2014/main" id="{BF5D9331-BEE8-453A-A973-2E204A39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387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defPPr>
            <a:lvl1pPr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三折 MAE、RMSE 均值均以 GRU 最低</a:t>
            </a:r>
            <a:endParaRPr sz="16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hac-protocol">
            <a:extLst xmlns:a="http://schemas.openxmlformats.org/drawingml/2006/main">
              <a:ext uri="{FF2B5EF4-FFF2-40B4-BE49-F238E27FC236}">
                <a16:creationId xmlns:a16="http://schemas.microsoft.com/office/drawing/2014/main" id="{EA851D4D-2840-41C3-AB40-8EF228A63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33925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defPPr>
            <a:lvl1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168 对小时损失；HAC 带宽24；每 seed 校正24项</a:t>
            </a:r>
            <a:endParaRPr sz="13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vol-ci">
            <a:extLst xmlns:a="http://schemas.openxmlformats.org/drawingml/2006/main">
              <a:ext uri="{FF2B5EF4-FFF2-40B4-BE49-F238E27FC236}">
                <a16:creationId xmlns:a16="http://schemas.microsoft.com/office/drawing/2014/main" id="{4A95615F-C9D0-4367-9C83-C29FC1E1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48250"/>
            <a:ext cx="533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defPPr>
            <a:lvl1pPr>
              <a:buNone/>
              <a:def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1pPr>
            <a:lvl2pPr>
              <a:buNone/>
              <a:def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2pPr>
            <a:lvl3pPr>
              <a:buNone/>
              <a:def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3pPr>
            <a:lvl4pPr>
              <a:buNone/>
              <a:def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4pPr>
            <a:lvl5pPr>
              <a:buNone/>
              <a:def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5pPr>
            <a:lvl6pPr>
              <a:buNone/>
              <a:def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6pPr>
            <a:lvl7pPr>
              <a:buNone/>
              <a:def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7pPr>
            <a:lvl8pPr>
              <a:buNone/>
              <a:def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8pPr>
            <a:lvl9pPr>
              <a:buNone/>
              <a:def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rPr>
              <a:t>DLThpVol MAE 差：−0.001853</a:t>
            </a:r>
            <a:endParaRPr sz="1425" b="0">
              <a:solidFill>
                <a:srgbClr val="283F55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buNone/>
              <a:def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rPr>
              <a:t>95% CI [−0.004178, 0.000471]（seed42）</a:t>
            </a:r>
            <a:endParaRPr sz="1425" b="0">
              <a:solidFill>
                <a:srgbClr val="283F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seed-conclusion">
            <a:extLst xmlns:a="http://schemas.openxmlformats.org/drawingml/2006/main">
              <a:ext uri="{FF2B5EF4-FFF2-40B4-BE49-F238E27FC236}">
                <a16:creationId xmlns:a16="http://schemas.microsoft.com/office/drawing/2014/main" id="{A090A624-9817-49DF-8B5C-567BA40F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769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defPPr>
            <a:lvl1pPr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seed42 / 43 均为 GRU 四项 MAE 最低，RF 的 DLThpVol RMSE 最低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eed-caveat">
            <a:extLst xmlns:a="http://schemas.openxmlformats.org/drawingml/2006/main">
              <a:ext uri="{FF2B5EF4-FFF2-40B4-BE49-F238E27FC236}">
                <a16:creationId xmlns:a16="http://schemas.microsoft.com/office/drawing/2014/main" id="{A8E9DEE6-FCCC-4C4C-BC0B-8435BB4E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67425"/>
            <a:ext cx="1104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defPPr>
            <a:lvl1pPr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DLThpVol 的 MAE 显著性随种子变化：seed43 p=0.01035；MSE p=0.3196</a:t>
            </a:r>
            <a:endParaRPr sz="1425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5026607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正式历史实验的异常候选筛选">
            <a:extLst xmlns:a="http://schemas.openxmlformats.org/drawingml/2006/main">
              <a:ext uri="{FF2B5EF4-FFF2-40B4-BE49-F238E27FC236}">
                <a16:creationId xmlns:a16="http://schemas.microsoft.com/office/drawing/2014/main" id="{4B6CF49A-F232-4B64-8734-2169659B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多方法异常检测与共识筛选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共识规则在 483,840 条测试观测中筛出 3,165 条候选，占 0">
            <a:extLst xmlns:a="http://schemas.openxmlformats.org/drawingml/2006/main">
              <a:ext uri="{FF2B5EF4-FFF2-40B4-BE49-F238E27FC236}">
                <a16:creationId xmlns:a16="http://schemas.microsoft.com/office/drawing/2014/main" id="{37A73BC9-E815-43B7-AEFA-6A779E15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共识规则在 483,840 条测试观测中筛出 3,165 条候选，占 0.654%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5F4B933F-93CE-4ACE-8DB1-0CDBFE36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08 / 14">
            <a:extLst xmlns:a="http://schemas.openxmlformats.org/drawingml/2006/main">
              <a:ext uri="{FF2B5EF4-FFF2-40B4-BE49-F238E27FC236}">
                <a16:creationId xmlns:a16="http://schemas.microsoft.com/office/drawing/2014/main" id="{0EDBF3F6-0714-4919-8F75-D7EB2B47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08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reports/w3_anomaly_method_summary">
            <a:extLst xmlns:a="http://schemas.openxmlformats.org/drawingml/2006/main">
              <a:ext uri="{FF2B5EF4-FFF2-40B4-BE49-F238E27FC236}">
                <a16:creationId xmlns:a16="http://schemas.microsoft.com/office/drawing/2014/main" id="{AC8D976C-F687-4FDF-86A0-6FC6DB68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来源：reports/w3_anomaly_method_summary.csv；w4_anomaly_logic_comparison.csv；w4_anomaly_threshold_shape_summary.csv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统计阈值 + 多变量检测">
            <a:extLst xmlns:a="http://schemas.openxmlformats.org/drawingml/2006/main">
              <a:ext uri="{FF2B5EF4-FFF2-40B4-BE49-F238E27FC236}">
                <a16:creationId xmlns:a16="http://schemas.microsoft.com/office/drawing/2014/main" id="{7088AC5E-4A1A-43EB-A21F-9967ABF8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288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统计阈值 + 多变量检测</a:t>
            </a:r>
            <a:endParaRPr sz="21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IF AND&#10;(3σ OR IQR)">
            <a:extLst xmlns:a="http://schemas.openxmlformats.org/drawingml/2006/main">
              <a:ext uri="{FF2B5EF4-FFF2-40B4-BE49-F238E27FC236}">
                <a16:creationId xmlns:a16="http://schemas.microsoft.com/office/drawing/2014/main" id="{47D63B39-2193-4AEC-A758-F89DE5949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381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IF AND</a:t>
            </a:r>
            <a:endParaRPr sz="255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  <a:def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(3σ OR IQR)</a:t>
            </a:r>
            <a:endParaRPr sz="255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SVM 历史抽样测试&#10;552 / 12,000 = 4.60%">
            <a:extLst xmlns:a="http://schemas.openxmlformats.org/drawingml/2006/main">
              <a:ext uri="{FF2B5EF4-FFF2-40B4-BE49-F238E27FC236}">
                <a16:creationId xmlns:a16="http://schemas.microsoft.com/office/drawing/2014/main" id="{515A61A6-379B-4E26-B985-E718FAE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71925"/>
            <a:ext cx="381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rPr>
              <a:t>SVM 历史抽样测试</a:t>
            </a:r>
            <a:endParaRPr sz="1875" b="0">
              <a:solidFill>
                <a:srgbClr val="283F55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rPr>
              <a:t>552 / 12,000 = 4.60%</a:t>
            </a:r>
            <a:endParaRPr sz="1875" b="0">
              <a:solidFill>
                <a:srgbClr val="283F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无真实故障标签，候选标记率用于描述筛选范围">
            <a:extLst xmlns:a="http://schemas.openxmlformats.org/drawingml/2006/main">
              <a:ext uri="{FF2B5EF4-FFF2-40B4-BE49-F238E27FC236}">
                <a16:creationId xmlns:a16="http://schemas.microsoft.com/office/drawing/2014/main" id="{C78F7425-6E6B-44DD-AE64-CC7E4DC1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864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/>
            </a:defPPr>
            <a:lvl1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分布诊断：DLThpVol 中 98.3% 波束偏态，阈值宽度与厚尾共同影响标记率</a:t>
            </a:r>
            <a:endParaRPr sz="16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历史候选 CSV 仅存前 2,000 条；SVM 分母另列，未参与共识规">
            <a:extLst xmlns:a="http://schemas.openxmlformats.org/drawingml/2006/main">
              <a:ext uri="{FF2B5EF4-FFF2-40B4-BE49-F238E27FC236}">
                <a16:creationId xmlns:a16="http://schemas.microsoft.com/office/drawing/2014/main" id="{EEBE05BB-973B-4560-9E42-4BF42DE2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9122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/>
            </a:defPPr>
            <a:lvl1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全 OR 58,108 条；全 AND 2,074 条；当前规则比 IF AND IQR 仅多 6 条</a:t>
            </a:r>
            <a:endParaRPr sz="1575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13" name="Chart">
            <a:extLst xmlns:a="http://schemas.openxmlformats.org/drawingml/2006/main">
              <a:ext uri="{FF2B5EF4-FFF2-40B4-BE49-F238E27FC236}">
                <a16:creationId xmlns:a16="http://schemas.microsoft.com/office/drawing/2014/main" id="{35BD48DE-AF08-41CB-8747-97888FF95480}"/>
              </a:ext>
            </a:extLst>
          </p:cNvPr>
          <p:cNvGraphicFramePr/>
          <p:nvPr/>
        </p:nvGraphicFramePr>
        <p:xfrm>
          <a:off xmlns:a="http://schemas.openxmlformats.org/drawingml/2006/main" x="571500" y="1895475"/>
          <a:ext xmlns:a="http://schemas.openxmlformats.org/drawingml/2006/main" cx="66675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414db5844f4b79"/>
          </a:graphicData>
        </a:graphic>
      </p:graphicFrame>
    </p:spTree>
    <p:extLst>
      <p:ext uri="{BB962C8B-B14F-4D97-AF65-F5344CB8AC3E}">
        <p14:creationId xmlns:p14="http://schemas.microsoft.com/office/powerpoint/2010/main" val="6672721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直接箭头连接符 9">
            <a:extLst xmlns:a="http://schemas.openxmlformats.org/drawingml/2006/main">
              <a:ext uri="{FF2B5EF4-FFF2-40B4-BE49-F238E27FC236}">
                <a16:creationId xmlns:a16="http://schemas.microsoft.com/office/drawing/2014/main" id="{36FA0321-EAEF-43B6-B9D5-8C517F17CEEE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2190750" y="4000500"/>
            <a:ext cx="0" cy="581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9CB6"/>
            </a:solidFill>
            <a:tailEnd type="triangle" w="sm" len="sm"/>
          </a:ln>
        </p:spPr>
      </p:cxnSp>
      <p:cxnSp>
        <p:nvCxnSpPr>
          <p:cNvPr id="17" name="直接箭头连接符 8">
            <a:extLst xmlns:a="http://schemas.openxmlformats.org/drawingml/2006/main">
              <a:ext uri="{FF2B5EF4-FFF2-40B4-BE49-F238E27FC236}">
                <a16:creationId xmlns:a16="http://schemas.microsoft.com/office/drawing/2014/main" id="{B6844113-74D3-4FD6-8AE8-8A9E9D5B4695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2190750" y="2628900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9CB6"/>
            </a:solidFill>
            <a:tailEnd type="triangle" w="sm" len="sm"/>
          </a:ln>
        </p:spPr>
      </p:cxnSp>
      <p:sp>
        <p:nvSpPr>
          <p:cNvPr id="14" name="Streamlit 系统集成">
            <a:extLst xmlns:a="http://schemas.openxmlformats.org/drawingml/2006/main">
              <a:ext uri="{FF2B5EF4-FFF2-40B4-BE49-F238E27FC236}">
                <a16:creationId xmlns:a16="http://schemas.microsoft.com/office/drawing/2014/main" id="{4EEE935D-9C80-4359-9BAB-E2419A3B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Streamlit 系统集成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六个页面连接数据准备、实验版本管理与实际推理">
            <a:extLst xmlns:a="http://schemas.openxmlformats.org/drawingml/2006/main">
              <a:ext uri="{FF2B5EF4-FFF2-40B4-BE49-F238E27FC236}">
                <a16:creationId xmlns:a16="http://schemas.microsoft.com/office/drawing/2014/main" id="{F5D3497C-AD7A-4020-84E7-A8BD4AC7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六个页面连接数据准备、实验版本管理与实际推理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ABD84C3C-3793-4CB1-97E3-7FC906A0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09 / 14">
            <a:extLst xmlns:a="http://schemas.openxmlformats.org/drawingml/2006/main">
              <a:ext uri="{FF2B5EF4-FFF2-40B4-BE49-F238E27FC236}">
                <a16:creationId xmlns:a16="http://schemas.microsoft.com/office/drawing/2014/main" id="{9AACA882-8BE7-42B5-B6CA-79E7AC6A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09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新版 docs/ARCHITECTURE.md；截图 01_web">
            <a:extLst xmlns:a="http://schemas.openxmlformats.org/drawingml/2006/main">
              <a:ext uri="{FF2B5EF4-FFF2-40B4-BE49-F238E27FC236}">
                <a16:creationId xmlns:a16="http://schemas.microsoft.com/office/drawing/2014/main" id="{5FD3062A-1AB9-463F-B1BD-01A6AE1C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来源：新版 ARCHITECTURE.md；截图 01_web_overview.png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数据层&#10;审计、对齐、特征">
            <a:extLst xmlns:a="http://schemas.openxmlformats.org/drawingml/2006/main">
              <a:ext uri="{FF2B5EF4-FFF2-40B4-BE49-F238E27FC236}">
                <a16:creationId xmlns:a16="http://schemas.microsoft.com/office/drawing/2014/main" id="{40BA5243-7205-4050-9353-2F05C875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数据层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审计、对齐、特征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训练与实验归档&#10;参数、权重、测试报告">
            <a:extLst xmlns:a="http://schemas.openxmlformats.org/drawingml/2006/main">
              <a:ext uri="{FF2B5EF4-FFF2-40B4-BE49-F238E27FC236}">
                <a16:creationId xmlns:a16="http://schemas.microsoft.com/office/drawing/2014/main" id="{BB3706C2-3AE0-49A5-AC18-B418C45C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8135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训练与实验归档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参数、权重、测试报告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推理与关联分析&#10;下一小时预测、候选筛选">
            <a:extLst xmlns:a="http://schemas.openxmlformats.org/drawingml/2006/main">
              <a:ext uri="{FF2B5EF4-FFF2-40B4-BE49-F238E27FC236}">
                <a16:creationId xmlns:a16="http://schemas.microsoft.com/office/drawing/2014/main" id="{D501C971-0585-40F8-ABF8-CAD4D20D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81525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7FA"/>
          </a:solidFill>
          <a:ln xmlns:a="http://schemas.openxmlformats.org/drawingml/2006/main" w="12383">
            <a:solidFill>
              <a:srgbClr val="009CB6"/>
            </a:solidFill>
          </a:ln>
        </p:spPr>
        <p:txBody>
          <a:bodyPr xmlns:a="http://schemas.openxmlformats.org/drawingml/2006/main" lIns="66675" tIns="66675" rIns="66675" bIns="66675" anchor="ctr"/>
          <a:lstStyle xmlns:a="http://schemas.openxmlformats.org/drawingml/2006/main">
            <a:lvl1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推理与关联分析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下一小时预测、候选筛选</a:t>
            </a:r>
            <a:endParaRPr sz="18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6" name="图片 10">
            <a:extLst xmlns:a="http://schemas.openxmlformats.org/drawingml/2006/main">
              <a:ext uri="{FF2B5EF4-FFF2-40B4-BE49-F238E27FC236}">
                <a16:creationId xmlns:a16="http://schemas.microsoft.com/office/drawing/2014/main" id="{A602F5C6-7DB4-41D3-9361-396B95926F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81d25511bd45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29100" y="2228977"/>
            <a:ext cx="7391400" cy="2266696"/>
          </a:xfrm>
          <a:prstGeom xmlns:a="http://schemas.openxmlformats.org/drawingml/2006/main" prst="rect">
            <a:avLst/>
          </a:prstGeom>
        </p:spPr>
      </p:pic>
      <p:sp>
        <p:nvSpPr>
          <p:cNvPr id="12" name="每轮训练独立 run_id&#10;权重、参数与报告配套归档">
            <a:extLst xmlns:a="http://schemas.openxmlformats.org/drawingml/2006/main">
              <a:ext uri="{FF2B5EF4-FFF2-40B4-BE49-F238E27FC236}">
                <a16:creationId xmlns:a16="http://schemas.microsoft.com/office/drawing/2014/main" id="{44C51789-C305-4A2B-A304-DA961235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133975"/>
            <a:ext cx="6991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独立 run_id 管理实验</a:t>
            </a:r>
            <a:endParaRPr sz="19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参数、权重、指标与图表一一对应</a:t>
            </a:r>
            <a:endParaRPr sz="19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本机离线系统，实时网络采集接口尚未接入">
            <a:extLst xmlns:a="http://schemas.openxmlformats.org/drawingml/2006/main">
              <a:ext uri="{FF2B5EF4-FFF2-40B4-BE49-F238E27FC236}">
                <a16:creationId xmlns:a16="http://schemas.microsoft.com/office/drawing/2014/main" id="{97559DD3-5027-4DF0-9FF1-42867D53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后台训练实时日志与独立 run_id 让多轮实验可追溯</a:t>
            </a:r>
            <a:endParaRPr sz="1575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8722766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实际下一小时 KPI 推理">
            <a:extLst xmlns:a="http://schemas.openxmlformats.org/drawingml/2006/main">
              <a:ext uri="{FF2B5EF4-FFF2-40B4-BE49-F238E27FC236}">
                <a16:creationId xmlns:a16="http://schemas.microsoft.com/office/drawing/2014/main" id="{1A6AC9D5-3C3D-4E01-9BCC-544CB3C0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Web 实测：下一小时 KPI 预测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Time 840、MR_number = 0.6485 是本次实际模型预">
            <a:extLst xmlns:a="http://schemas.openxmlformats.org/drawingml/2006/main">
              <a:ext uri="{FF2B5EF4-FFF2-40B4-BE49-F238E27FC236}">
                <a16:creationId xmlns:a16="http://schemas.microsoft.com/office/drawing/2014/main" id="{D81C1AC8-28FC-4A66-9D23-8BAB3888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读取真实历史、加载权重，输出 Time 840 的 MR_number = 0.6485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F6F09BD4-5257-4A33-9606-1E6A0764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10 / 14">
            <a:extLst xmlns:a="http://schemas.openxmlformats.org/drawingml/2006/main">
              <a:ext uri="{FF2B5EF4-FFF2-40B4-BE49-F238E27FC236}">
                <a16:creationId xmlns:a16="http://schemas.microsoft.com/office/drawing/2014/main" id="{2BE2FC40-2520-46A2-9D0F-1839E1BD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10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截图 03_kpi_prediction.png；截图/PPT_截">
            <a:extLst xmlns:a="http://schemas.openxmlformats.org/drawingml/2006/main">
              <a:ext uri="{FF2B5EF4-FFF2-40B4-BE49-F238E27FC236}">
                <a16:creationId xmlns:a16="http://schemas.microsoft.com/office/drawing/2014/main" id="{89E08B8D-5DBD-448D-BF13-401D2F41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来源：截图 03_kpi_prediction.png；USERGUIDE.md 第9节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9" name="图片 5">
            <a:extLst xmlns:a="http://schemas.openxmlformats.org/drawingml/2006/main">
              <a:ext uri="{FF2B5EF4-FFF2-40B4-BE49-F238E27FC236}">
                <a16:creationId xmlns:a16="http://schemas.microsoft.com/office/drawing/2014/main" id="{34DD00C1-E3B9-4393-AC58-90CDB20FD3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c5881f805c43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1733550"/>
            <a:ext cx="11049000" cy="2286000"/>
          </a:xfrm>
          <a:prstGeom xmlns:a="http://schemas.openxmlformats.org/drawingml/2006/main" prst="rect">
            <a:avLst/>
          </a:prstGeom>
        </p:spPr>
      </p:pic>
      <p:pic>
        <p:nvPicPr>
          <p:cNvPr id="20" name="图片 6">
            <a:extLst xmlns:a="http://schemas.openxmlformats.org/drawingml/2006/main">
              <a:ext uri="{FF2B5EF4-FFF2-40B4-BE49-F238E27FC236}">
                <a16:creationId xmlns:a16="http://schemas.microsoft.com/office/drawing/2014/main" id="{3D490AE5-B045-4D37-A5E2-4232B7AAEE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e45c55a604e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283" y="4143375"/>
            <a:ext cx="6312060" cy="2076450"/>
          </a:xfrm>
          <a:prstGeom xmlns:a="http://schemas.openxmlformats.org/drawingml/2006/main" prst="rect">
            <a:avLst/>
          </a:prstGeom>
        </p:spPr>
      </p:pic>
      <p:sp>
        <p:nvSpPr>
          <p:cNvPr id="8" name="单波束 / 单 KPI">
            <a:extLst xmlns:a="http://schemas.openxmlformats.org/drawingml/2006/main">
              <a:ext uri="{FF2B5EF4-FFF2-40B4-BE49-F238E27FC236}">
                <a16:creationId xmlns:a16="http://schemas.microsoft.com/office/drawing/2014/main" id="{F6146D5B-C2D7-4E82-93FA-162B37E4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8625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单波束 · 单 KPI</a:t>
            </a:r>
            <a:endParaRPr sz="21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ime 840 无真值&#10;本页不计算误差指标">
            <a:extLst xmlns:a="http://schemas.openxmlformats.org/drawingml/2006/main">
              <a:ext uri="{FF2B5EF4-FFF2-40B4-BE49-F238E27FC236}">
                <a16:creationId xmlns:a16="http://schemas.microsoft.com/office/drawing/2014/main" id="{B00EAABC-5275-49F5-AE57-314A60F4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67275"/>
            <a:ext cx="3714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/>
            </a:defPPr>
            <a:lvl1pPr algn="l">
              <a:buNone/>
              <a:defRPr sz="202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02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02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02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02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02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02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02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02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基于真实历史输入</a:t>
            </a:r>
            <a:endParaRPr sz="195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加载权重预测下一小时</a:t>
            </a:r>
            <a:endParaRPr sz="2025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预测值、目标小时与 CSV 导出来自同一次实际运行">
            <a:extLst xmlns:a="http://schemas.openxmlformats.org/drawingml/2006/main">
              <a:ext uri="{FF2B5EF4-FFF2-40B4-BE49-F238E27FC236}">
                <a16:creationId xmlns:a16="http://schemas.microsoft.com/office/drawing/2014/main" id="{73AAB380-4B87-436D-932B-CCF13FA9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89597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预测值、目标小时与 CSV 导出来自同一次实际运行</a:t>
            </a:r>
            <a:endParaRPr sz="150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38265281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实际异常检测与结果导出">
            <a:extLst xmlns:a="http://schemas.openxmlformats.org/drawingml/2006/main">
              <a:ext uri="{FF2B5EF4-FFF2-40B4-BE49-F238E27FC236}">
                <a16:creationId xmlns:a16="http://schemas.microsoft.com/office/drawing/2014/main" id="{5E158213-34CF-4AEA-98C2-8B03E052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Web 实测：异常检测与结果导出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本次 Web 输入得到 58 条共识候选，分母为 5,760 条输出观测">
            <a:extLst xmlns:a="http://schemas.openxmlformats.org/drawingml/2006/main">
              <a:ext uri="{FF2B5EF4-FFF2-40B4-BE49-F238E27FC236}">
                <a16:creationId xmlns:a16="http://schemas.microsoft.com/office/drawing/2014/main" id="{15E3C016-B192-4DC5-9DBD-4E563004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本次 Web 输入得到 58 条共识候选，分母为 5,760 条输出观测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467EF392-EA08-4303-9212-68D3EE71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11 / 14">
            <a:extLst xmlns:a="http://schemas.openxmlformats.org/drawingml/2006/main">
              <a:ext uri="{FF2B5EF4-FFF2-40B4-BE49-F238E27FC236}">
                <a16:creationId xmlns:a16="http://schemas.microsoft.com/office/drawing/2014/main" id="{4323620A-E691-4ABF-9FB2-F8E1B17D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11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截图 04_anomaly_detection-1 / -2；截图">
            <a:extLst xmlns:a="http://schemas.openxmlformats.org/drawingml/2006/main">
              <a:ext uri="{FF2B5EF4-FFF2-40B4-BE49-F238E27FC236}">
                <a16:creationId xmlns:a16="http://schemas.microsoft.com/office/drawing/2014/main" id="{B64E2159-BA08-4AC0-B3E2-4DC9AB8E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来源：截图 04_anomaly_detection-1 / -2；USERGUIDE.md 第9节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9" name="图片 5">
            <a:extLst xmlns:a="http://schemas.openxmlformats.org/drawingml/2006/main">
              <a:ext uri="{FF2B5EF4-FFF2-40B4-BE49-F238E27FC236}">
                <a16:creationId xmlns:a16="http://schemas.microsoft.com/office/drawing/2014/main" id="{C84BB1F9-EEB6-4249-8AF5-AF3753ECDD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d1be1274084c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1791058"/>
            <a:ext cx="5476875" cy="3133008"/>
          </a:xfrm>
          <a:prstGeom xmlns:a="http://schemas.openxmlformats.org/drawingml/2006/main" prst="rect">
            <a:avLst/>
          </a:prstGeom>
        </p:spPr>
      </p:pic>
      <p:pic>
        <p:nvPicPr>
          <p:cNvPr id="20" name="图片 6">
            <a:extLst xmlns:a="http://schemas.openxmlformats.org/drawingml/2006/main">
              <a:ext uri="{FF2B5EF4-FFF2-40B4-BE49-F238E27FC236}">
                <a16:creationId xmlns:a16="http://schemas.microsoft.com/office/drawing/2014/main" id="{171738EF-3E5E-4EBA-B174-571B76F0E0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1c2f71bc2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1970735"/>
            <a:ext cx="5295900" cy="3030829"/>
          </a:xfrm>
          <a:prstGeom xmlns:a="http://schemas.openxmlformats.org/drawingml/2006/main" prst="rect">
            <a:avLst/>
          </a:prstGeom>
        </p:spPr>
      </p:pic>
      <p:sp>
        <p:nvSpPr>
          <p:cNvPr id="8" name="3σ 320      IQR 713      IF 151     ">
            <a:extLst xmlns:a="http://schemas.openxmlformats.org/drawingml/2006/main">
              <a:ext uri="{FF2B5EF4-FFF2-40B4-BE49-F238E27FC236}">
                <a16:creationId xmlns:a16="http://schemas.microsoft.com/office/drawing/2014/main" id="{C25A837D-5B05-4FDA-A748-B812A676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1049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3σ 320      IQR 713      IF 151      SVM 593      共识 58</a:t>
            </a:r>
            <a:endParaRPr sz="21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最后 3 小时输入，首小时为上下文，输出 Time 838–839">
            <a:extLst xmlns:a="http://schemas.openxmlformats.org/drawingml/2006/main">
              <a:ext uri="{FF2B5EF4-FFF2-40B4-BE49-F238E27FC236}">
                <a16:creationId xmlns:a16="http://schemas.microsoft.com/office/drawing/2014/main" id="{D2CF2DAA-4F28-47E8-A177-8354DAB9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rPr>
              <a:t>最后 3 小时输入，首小时为上下文，输出 Time 838–839</a:t>
            </a:r>
            <a:endParaRPr sz="1800" b="0">
              <a:solidFill>
                <a:srgbClr val="283F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58 / 5,760 = 1.0069%，与正式历史实验的 3,165 ">
            <a:extLst xmlns:a="http://schemas.openxmlformats.org/drawingml/2006/main">
              <a:ext uri="{FF2B5EF4-FFF2-40B4-BE49-F238E27FC236}">
                <a16:creationId xmlns:a16="http://schemas.microsoft.com/office/drawing/2014/main" id="{ADE148C4-844E-46DA-8FAC-F6414D53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150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现场检测：58 / 5,760（1.01%）；历史全量：3,165 / 483,840（0.654%）</a:t>
            </a:r>
            <a:endParaRPr sz="1575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9267374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PI 关联分析与排查线索">
            <a:extLst xmlns:a="http://schemas.openxmlformats.org/drawingml/2006/main">
              <a:ext uri="{FF2B5EF4-FFF2-40B4-BE49-F238E27FC236}">
                <a16:creationId xmlns:a16="http://schemas.microsoft.com/office/drawing/2014/main" id="{17A0E012-5D8C-4386-9989-71073FA10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KPI 关联分析：识别指标协同变化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历史候选与本次候选分别计算相关性，相关强度仅提供排查线索">
            <a:extLst xmlns:a="http://schemas.openxmlformats.org/drawingml/2006/main">
              <a:ext uri="{FF2B5EF4-FFF2-40B4-BE49-F238E27FC236}">
                <a16:creationId xmlns:a16="http://schemas.microsoft.com/office/drawing/2014/main" id="{F7AA7E15-629B-48D2-8113-0D4C5860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正式历史样本与 Web 实测分别得到相关矩阵，支持负载与测量活动排查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DCEC2B39-39B5-4460-9F22-C36AF165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12 / 14">
            <a:extLst xmlns:a="http://schemas.openxmlformats.org/drawingml/2006/main">
              <a:ext uri="{FF2B5EF4-FFF2-40B4-BE49-F238E27FC236}">
                <a16:creationId xmlns:a16="http://schemas.microsoft.com/office/drawing/2014/main" id="{636F8F04-CFDB-4F63-A117-72CC44D6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12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reports/w4_anomaly_kpi_correlatio">
            <a:extLst xmlns:a="http://schemas.openxmlformats.org/drawingml/2006/main">
              <a:ext uri="{FF2B5EF4-FFF2-40B4-BE49-F238E27FC236}">
                <a16:creationId xmlns:a16="http://schemas.microsoft.com/office/drawing/2014/main" id="{B778FB9A-09A1-4877-A4C7-EA766829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来源：reports/w4_anomaly_kpi_correlation_tests.csv；截图 05_kpi_association.png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正式历史实验">
            <a:extLst xmlns:a="http://schemas.openxmlformats.org/drawingml/2006/main">
              <a:ext uri="{FF2B5EF4-FFF2-40B4-BE49-F238E27FC236}">
                <a16:creationId xmlns:a16="http://schemas.microsoft.com/office/drawing/2014/main" id="{23DB4B6A-BEFF-4B90-B563-26FF94C5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正式历史实验</a:t>
            </a:r>
            <a:endParaRPr sz="210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25" name="表格 6">
            <a:extLst xmlns:a="http://schemas.openxmlformats.org/drawingml/2006/main">
              <a:ext uri="{FF2B5EF4-FFF2-40B4-BE49-F238E27FC236}">
                <a16:creationId xmlns:a16="http://schemas.microsoft.com/office/drawing/2014/main" id="{CC3879F9-5B57-465C-8079-1184684638FF}"/>
              </a:ext>
            </a:extLst>
          </p:cNvPr>
          <p:cNvGraphicFramePr/>
          <p:nvPr/>
        </p:nvGraphicFramePr>
        <p:xfrm>
          <a:off xmlns:a="http://schemas.openxmlformats.org/drawingml/2006/main" x="571500" y="2324100"/>
          <a:ext xmlns:a="http://schemas.openxmlformats.org/drawingml/2006/main" cx="4857750" cy="219075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2095500"/>
              </a:tblGrid>
              <a:tr h="54768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候选样本</a:t>
                      </a:r>
                      <a:endParaRPr sz="157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3,165 条，30 站</a:t>
                      </a:r>
                      <a:endParaRPr sz="157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DLPRB 与 MR_number</a:t>
                      </a:r>
                      <a:endParaRPr sz="157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 = 0.889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 = 1.1e−28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DLPRB 与 DLThpTime</a:t>
                      </a:r>
                      <a:endParaRPr sz="157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 = 0.697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 = 3.53e−10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历史统计检验</a:t>
                      </a:r>
                      <a:endParaRPr sz="157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 站聚类 / Holm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r>
                        <a:rPr sz="14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六对 p 均 &lt; 0.05</a:t>
                      </a:r>
                      <a:endParaRPr sz="14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后续核验">
            <a:extLst xmlns:a="http://schemas.openxmlformats.org/drawingml/2006/main">
              <a:ext uri="{FF2B5EF4-FFF2-40B4-BE49-F238E27FC236}">
                <a16:creationId xmlns:a16="http://schemas.microsoft.com/office/drawing/2014/main" id="{FDE1D7B4-935E-4DDE-B14E-CAE09F44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02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02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02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02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02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02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02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02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02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工程应用</a:t>
            </a:r>
            <a:endParaRPr sz="2025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关联候选与告警、SINR、重传率&#10;及人工工单进行对照">
            <a:extLst xmlns:a="http://schemas.openxmlformats.org/drawingml/2006/main">
              <a:ext uri="{FF2B5EF4-FFF2-40B4-BE49-F238E27FC236}">
                <a16:creationId xmlns:a16="http://schemas.microsoft.com/office/drawing/2014/main" id="{6BF65867-DD45-4151-911F-3E4885DD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38775"/>
            <a:ext cx="4667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/>
            </a:defPPr>
            <a:lvl1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75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rPr>
              <a:t>关联提供排查线索，结合告警、SINR、</a:t>
            </a:r>
            <a:endParaRPr sz="1650" b="0">
              <a:solidFill>
                <a:srgbClr val="283F55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  <a:defRPr sz="16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rPr>
              <a:t>重传率与运维记录核验</a:t>
            </a:r>
            <a:endParaRPr sz="1650" b="0">
              <a:solidFill>
                <a:srgbClr val="283F55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8" name="图片 9">
            <a:extLst xmlns:a="http://schemas.openxmlformats.org/drawingml/2006/main">
              <a:ext uri="{FF2B5EF4-FFF2-40B4-BE49-F238E27FC236}">
                <a16:creationId xmlns:a16="http://schemas.microsoft.com/office/drawing/2014/main" id="{5E32EBD3-AD97-43E9-84B4-93D82DD4B8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da19724c0842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0" y="1734135"/>
            <a:ext cx="5905500" cy="1399006"/>
          </a:xfrm>
          <a:prstGeom xmlns:a="http://schemas.openxmlformats.org/drawingml/2006/main" prst="rect">
            <a:avLst/>
          </a:prstGeom>
        </p:spPr>
      </p:pic>
      <p:pic>
        <p:nvPicPr>
          <p:cNvPr id="29" name="图片 10">
            <a:extLst xmlns:a="http://schemas.openxmlformats.org/drawingml/2006/main">
              <a:ext uri="{FF2B5EF4-FFF2-40B4-BE49-F238E27FC236}">
                <a16:creationId xmlns:a16="http://schemas.microsoft.com/office/drawing/2014/main" id="{1513AB0F-63F7-4354-B77E-CF7BF1F1A9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09a22b47041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99250" y="3257550"/>
            <a:ext cx="3175000" cy="2476500"/>
          </a:xfrm>
          <a:prstGeom xmlns:a="http://schemas.openxmlformats.org/drawingml/2006/main" prst="rect">
            <a:avLst/>
          </a:prstGeom>
        </p:spPr>
      </p:pic>
      <p:pic>
        <p:nvPicPr>
          <p:cNvPr id="30" name="图片 11">
            <a:extLst xmlns:a="http://schemas.openxmlformats.org/drawingml/2006/main">
              <a:ext uri="{FF2B5EF4-FFF2-40B4-BE49-F238E27FC236}">
                <a16:creationId xmlns:a16="http://schemas.microsoft.com/office/drawing/2014/main" id="{81765C83-9F52-4D2A-A811-C5D4387CC6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5451f5e6249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58500" y="3429000"/>
            <a:ext cx="523875" cy="2152650"/>
          </a:xfrm>
          <a:prstGeom xmlns:a="http://schemas.openxmlformats.org/drawingml/2006/main" prst="rect">
            <a:avLst/>
          </a:prstGeom>
        </p:spPr>
      </p:pic>
      <p:sp>
        <p:nvSpPr>
          <p:cNvPr id="13" name="本次 58 条候选：DLPRB 与 MR_number 的 r 约 0.">
            <a:extLst xmlns:a="http://schemas.openxmlformats.org/drawingml/2006/main">
              <a:ext uri="{FF2B5EF4-FFF2-40B4-BE49-F238E27FC236}">
                <a16:creationId xmlns:a16="http://schemas.microsoft.com/office/drawing/2014/main" id="{E80DA630-7D5F-439E-AD77-63652735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857875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本次 58 条候选：DLPRB 与 MR_number 的 r 约 0.82</a:t>
            </a:r>
            <a:endParaRPr sz="1575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5631009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系统测试与验收边界">
            <a:extLst xmlns:a="http://schemas.openxmlformats.org/drawingml/2006/main">
              <a:ext uri="{FF2B5EF4-FFF2-40B4-BE49-F238E27FC236}">
                <a16:creationId xmlns:a16="http://schemas.microsoft.com/office/drawing/2014/main" id="{615C7212-2ED6-4FA3-9461-9625169B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系统测试：功能闭环与工程改进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历史本机功能验收已通过，完整新版回归与性能基准仍缺少记录">
            <a:extLst xmlns:a="http://schemas.openxmlformats.org/drawingml/2006/main">
              <a:ext uri="{FF2B5EF4-FFF2-40B4-BE49-F238E27FC236}">
                <a16:creationId xmlns:a16="http://schemas.microsoft.com/office/drawing/2014/main" id="{1A24B331-5397-42B1-900E-F0CFC077E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58 项自动测试通过，六页 AppTest 无异常，正式模型回载与导出通过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57388C83-33ED-4242-A473-CC583D14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13 / 14">
            <a:extLst xmlns:a="http://schemas.openxmlformats.org/drawingml/2006/main">
              <a:ext uri="{FF2B5EF4-FFF2-40B4-BE49-F238E27FC236}">
                <a16:creationId xmlns:a16="http://schemas.microsoft.com/office/drawing/2014/main" id="{3F9F7D54-C221-4740-BA8E-EC2535F5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13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新版 docs/TECHNICAL_REPORT.md §7.1–">
            <a:extLst xmlns:a="http://schemas.openxmlformats.org/drawingml/2006/main">
              <a:ext uri="{FF2B5EF4-FFF2-40B4-BE49-F238E27FC236}">
                <a16:creationId xmlns:a16="http://schemas.microsoft.com/office/drawing/2014/main" id="{D9CD34FB-DFBA-4504-921A-3DC7FDA9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来源：《项目技术报告》表18；reports/delivery_final_20261025/tests.txt；既有Web及工件验收记录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16" name="表格 5">
            <a:extLst xmlns:a="http://schemas.openxmlformats.org/drawingml/2006/main">
              <a:ext uri="{FF2B5EF4-FFF2-40B4-BE49-F238E27FC236}">
                <a16:creationId xmlns:a16="http://schemas.microsoft.com/office/drawing/2014/main" id="{CA8D3589-9C46-49E9-9EAB-73B85E7E2BE9}"/>
              </a:ext>
            </a:extLst>
          </p:cNvPr>
          <p:cNvGraphicFramePr/>
          <p:nvPr/>
        </p:nvGraphicFramePr>
        <p:xfrm>
          <a:off xmlns:a="http://schemas.openxmlformats.org/drawingml/2006/main" x="571500" y="1790699"/>
          <a:ext xmlns:a="http://schemas.openxmlformats.org/drawingml/2006/main" cx="11049000" cy="3790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6667500"/>
                <a:gridCol w="2047875"/>
              </a:tblGrid>
              <a:tr h="6318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验收项目</a:t>
                      </a:r>
                      <a:endParaRPr sz="17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执行记录</a:t>
                      </a:r>
                      <a:endParaRPr sz="17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  <a:endParaRPr sz="17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自动回归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58 项全部通过，覆盖时间契约、scaler、推理及实验隔离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通过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六页 AppTest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六页自动加载和切换，无异常及可见错误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通过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正式预测工件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GRU 1 个、RF 4 个、XGBoost 4 个，回载推理与导出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通过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异常工件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既有权重检测 5,760 条演示观测并完成 CSV 导出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通过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命令行训练入口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轮、512 样本功能烟测，分数不参与正式选型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通过</a:t>
                      </a:r>
                      <a:endParaRPr sz="165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功能小样本验收、历史正式精度与新版完整验收分别记录">
            <a:extLst xmlns:a="http://schemas.openxmlformats.org/drawingml/2006/main">
              <a:ext uri="{FF2B5EF4-FFF2-40B4-BE49-F238E27FC236}">
                <a16:creationId xmlns:a16="http://schemas.microsoft.com/office/drawing/2014/main" id="{6768D8BA-EBB4-41D9-9AA8-ABD3B52B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7375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1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1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1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1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1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1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1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1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1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工程改进：统一 UTF-8、独立 run_id、WebSocket 实时日志</a:t>
            </a:r>
            <a:endParaRPr sz="21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功能验收采用小样本配置，正式历史精度与资源性能需分别核验">
            <a:extLst xmlns:a="http://schemas.openxmlformats.org/drawingml/2006/main">
              <a:ext uri="{FF2B5EF4-FFF2-40B4-BE49-F238E27FC236}">
                <a16:creationId xmlns:a16="http://schemas.microsoft.com/office/drawing/2014/main" id="{6646E169-FFDD-45A1-A12F-B6F18CC4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/>
            </a:defPPr>
            <a:lvl1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0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前述 Web 截图为本机交互记录，本轮验收覆盖自动回归、页面加载与工件验证</a:t>
            </a:r>
            <a:endParaRPr sz="150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7140725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项目成果与后续工作">
            <a:extLst xmlns:a="http://schemas.openxmlformats.org/drawingml/2006/main">
              <a:ext uri="{FF2B5EF4-FFF2-40B4-BE49-F238E27FC236}">
                <a16:creationId xmlns:a16="http://schemas.microsoft.com/office/drawing/2014/main" id="{D7EEF3A1-F513-4C20-96AF-171D3449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项目成果与发展方向</a:t>
            </a:r>
            <a:endParaRPr sz="31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已完成协议证据、离线模型比较和可运行 Web 原型">
            <a:extLst xmlns:a="http://schemas.openxmlformats.org/drawingml/2006/main">
              <a:ext uri="{FF2B5EF4-FFF2-40B4-BE49-F238E27FC236}">
                <a16:creationId xmlns:a16="http://schemas.microsoft.com/office/drawing/2014/main" id="{1652D6C9-AAF1-4915-84FD-A26BF9DE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9CB6"/>
                </a:solidFill>
                <a:latin typeface="微软雅黑"/>
                <a:ea typeface="微软雅黑"/>
                <a:cs typeface="微软雅黑"/>
              </a:rPr>
              <a:t>完成通信验证、正式模型评估、异常筛查与六模块 Web 系统交付</a:t>
            </a:r>
            <a:endParaRPr sz="1800" b="1">
              <a:solidFill>
                <a:srgbClr val="009CB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2DC130B5-B3FC-42A3-8DFB-2F8DD7FC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14 / 14">
            <a:extLst xmlns:a="http://schemas.openxmlformats.org/drawingml/2006/main">
              <a:ext uri="{FF2B5EF4-FFF2-40B4-BE49-F238E27FC236}">
                <a16:creationId xmlns:a16="http://schemas.microsoft.com/office/drawing/2014/main" id="{F15E935D-329C-4B25-8167-47311689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14 / 14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来源：正式实验表；完整技术报告；新版系统文档与本机验收记录">
            <a:extLst xmlns:a="http://schemas.openxmlformats.org/drawingml/2006/main">
              <a:ext uri="{FF2B5EF4-FFF2-40B4-BE49-F238E27FC236}">
                <a16:creationId xmlns:a16="http://schemas.microsoft.com/office/drawing/2014/main" id="{7543DC23-9D0E-4B30-82AC-69DC490C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07487"/>
                </a:solidFill>
                <a:latin typeface="微软雅黑"/>
                <a:ea typeface="微软雅黑"/>
                <a:cs typeface="微软雅黑"/>
              </a:rPr>
              <a:t>来源：《项目技术报告》第8–16页；正式实验与2026-10-25验收记录</a:t>
            </a:r>
            <a:endParaRPr sz="1050" b="0">
              <a:solidFill>
                <a:srgbClr val="60748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已交付的研究与工程成果">
            <a:extLst xmlns:a="http://schemas.openxmlformats.org/drawingml/2006/main">
              <a:ext uri="{FF2B5EF4-FFF2-40B4-BE49-F238E27FC236}">
                <a16:creationId xmlns:a16="http://schemas.microsoft.com/office/drawing/2014/main" id="{13253CA1-4FD4-43E1-B206-C6D168A7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已交付的研究与工程成果</a:t>
            </a:r>
            <a:endParaRPr sz="22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20" name="表格 6">
            <a:extLst xmlns:a="http://schemas.openxmlformats.org/drawingml/2006/main">
              <a:ext uri="{FF2B5EF4-FFF2-40B4-BE49-F238E27FC236}">
                <a16:creationId xmlns:a16="http://schemas.microsoft.com/office/drawing/2014/main" id="{D4DC0735-43EE-4A3E-876D-569DF4621952}"/>
              </a:ext>
            </a:extLst>
          </p:cNvPr>
          <p:cNvGraphicFramePr/>
          <p:nvPr/>
        </p:nvGraphicFramePr>
        <p:xfrm>
          <a:off xmlns:a="http://schemas.openxmlformats.org/drawingml/2006/main" x="571500" y="2419350"/>
          <a:ext xmlns:a="http://schemas.openxmlformats.org/drawingml/2006/main" cx="11049000" cy="1724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9144000"/>
              </a:tblGrid>
              <a:tr h="5746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通信侧</a:t>
                      </a:r>
                      <a:endParaRPr sz="187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5G SA 注册、会话配置及 GTP-U 转发证据</a:t>
                      </a:r>
                      <a:endParaRPr sz="187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12345A"/>
                    </a:solidFill>
                  </a:tcPr>
                </a:tc>
              </a:tr>
              <a:tr h="5746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建模侧</a:t>
                      </a:r>
                      <a:endParaRPr sz="187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三模型统一比较、三折 / 双种子检验；3,165 条异常候选</a:t>
                      </a:r>
                      <a:endParaRPr sz="172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46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系统侧</a:t>
                      </a:r>
                      <a:endParaRPr sz="1875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83F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六页 Web、58 项自动测试、正式模型回载与 CSV 导出</a:t>
                      </a:r>
                      <a:endParaRPr sz="1800" b="0">
                        <a:solidFill>
                          <a:srgbClr val="283F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5250" marR="76200" marT="57150" marB="57150" anchor="ctr">
                    <a:lnL w="5715" cmpd="sng">
                      <a:solidFill>
                        <a:srgbClr val="D5E0E9"/>
                      </a:solidFill>
                      <a:prstDash val="solid"/>
                    </a:lnL>
                    <a:lnR w="5715">
                      <a:solidFill>
                        <a:srgbClr val="D5E0E9"/>
                      </a:solidFill>
                      <a:prstDash val="solid"/>
                    </a:lnR>
                    <a:lnT w="5715" cmpd="sng">
                      <a:solidFill>
                        <a:srgbClr val="D5E0E9"/>
                      </a:solidFill>
                      <a:prstDash val="solid"/>
                    </a:lnT>
                    <a:lnB w="5715">
                      <a:solidFill>
                        <a:srgbClr val="D5E0E9"/>
                      </a:solidFill>
                      <a:prstDash val="solid"/>
                    </a:lnB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8" name="后续优先级">
            <a:extLst xmlns:a="http://schemas.openxmlformats.org/drawingml/2006/main">
              <a:ext uri="{FF2B5EF4-FFF2-40B4-BE49-F238E27FC236}">
                <a16:creationId xmlns:a16="http://schemas.microsoft.com/office/drawing/2014/main" id="{8B280571-C5DA-4689-A1D1-B4FBF11C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2345A"/>
                </a:solidFill>
                <a:latin typeface="微软雅黑"/>
                <a:ea typeface="微软雅黑"/>
                <a:cs typeface="微软雅黑"/>
              </a:rPr>
              <a:t>后续拓展方向</a:t>
            </a:r>
            <a:endParaRPr sz="2250" b="1">
              <a:solidFill>
                <a:srgbClr val="12345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02  严格训练子段标准化，补充滚动验证与多随机种子实验">
            <a:extLst xmlns:a="http://schemas.openxmlformats.org/drawingml/2006/main">
              <a:ext uri="{FF2B5EF4-FFF2-40B4-BE49-F238E27FC236}">
                <a16:creationId xmlns:a16="http://schemas.microsoft.com/office/drawing/2014/main" id="{038D8CB1-CAB4-4FE7-BC4D-BC06B779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33987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/>
            </a:defPPr>
            <a:lvl1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rPr>
              <a:t>01  扩展验证：增加时间窗口、随机种子与独立外部数据</a:t>
            </a:r>
            <a:endParaRPr sz="1950" b="0">
              <a:solidFill>
                <a:srgbClr val="283F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03  接入真实故障标签、告警和实时 KPI，核验候选与排查假设">
            <a:extLst xmlns:a="http://schemas.openxmlformats.org/drawingml/2006/main">
              <a:ext uri="{FF2B5EF4-FFF2-40B4-BE49-F238E27FC236}">
                <a16:creationId xmlns:a16="http://schemas.microsoft.com/office/drawing/2014/main" id="{0AD247F3-A0EB-446A-87BC-9852A70C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43562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/>
            </a:defPPr>
            <a:lvl1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0">
                <a:solidFill>
                  <a:srgbClr val="283F55"/>
                </a:solidFill>
                <a:latin typeface="微软雅黑"/>
                <a:ea typeface="微软雅黑"/>
                <a:cs typeface="微软雅黑"/>
              </a:rPr>
              <a:t>02  接入告警、故障工单与实时 KPI，核验异常筛查效果</a:t>
            </a:r>
            <a:endParaRPr sz="1950" b="0">
              <a:solidFill>
                <a:srgbClr val="283F55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9719362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2026-10-25T15:22:19.7840000Z</dcterms:created>
  <dcterms:modified xsi:type="dcterms:W3CDTF">2026-10-25T15:22:19.7840000Z</dcterms:modified>
</coreProperties>
</file>