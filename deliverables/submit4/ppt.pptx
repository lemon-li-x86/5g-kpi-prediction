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RandomForest</c:f>
              <c:strCache>
                <c:ptCount val="1"/>
                <c:pt idx="0">
                  <c:v>RandomForest</c:v>
                </c:pt>
              </c:strCache>
            </c:strRef>
          </c:tx>
          <c:spPr>
            <a:solidFill>
              <a:srgbClr val="12345A"/>
            </a:solidFill>
          </c:spPr>
          <c:invertIfNegative val="0"/>
          <c:dLbls>
            <c:delete val="1"/>
          </c:dLbls>
          <c:cat>
            <c:strRef>
              <c:f>'Chart Data'!$A$2:$A$5</c:f>
              <c:strCache>
                <c:ptCount val="4"/>
                <c:pt idx="0">
                  <c:v>DLPRB</c:v>
                </c:pt>
                <c:pt idx="1">
                  <c:v>DLThpVol</c:v>
                </c:pt>
                <c:pt idx="2">
                  <c:v>DLThpTime</c:v>
                </c:pt>
                <c:pt idx="3">
                  <c:v>MR_number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0.769915</c:v>
                </c:pt>
                <c:pt idx="1">
                  <c:v>0.584089</c:v>
                </c:pt>
                <c:pt idx="2">
                  <c:v>0.684194</c:v>
                </c:pt>
                <c:pt idx="3">
                  <c:v>0.854584</c:v>
                </c:pt>
              </c:numCache>
            </c:numRef>
          </c:val>
        </c:ser>
        <c:ser>
          <c:idx val="1"/>
          <c:order val="1"/>
          <c:tx>
            <c:strRef>
              <c:f>XGBoost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8AAEC2"/>
            </a:solidFill>
          </c:spPr>
          <c:invertIfNegative val="0"/>
          <c:dLbls>
            <c:delete val="1"/>
          </c:dLbls>
          <c:cat>
            <c:strRef>
              <c:f>'Chart Data'!$C$2:$C$5</c:f>
              <c:strCache>
                <c:ptCount val="4"/>
                <c:pt idx="0">
                  <c:v>DLPRB</c:v>
                </c:pt>
                <c:pt idx="1">
                  <c:v>DLThpVol</c:v>
                </c:pt>
                <c:pt idx="2">
                  <c:v>DLThpTime</c:v>
                </c:pt>
                <c:pt idx="3">
                  <c:v>MR_number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0.765584</c:v>
                </c:pt>
                <c:pt idx="1">
                  <c:v>0.432144</c:v>
                </c:pt>
                <c:pt idx="2">
                  <c:v>0.634282</c:v>
                </c:pt>
                <c:pt idx="3">
                  <c:v>0.852792</c:v>
                </c:pt>
              </c:numCache>
            </c:numRef>
          </c:val>
        </c:ser>
        <c:ser>
          <c:idx val="2"/>
          <c:order val="2"/>
          <c:tx>
            <c:strRef>
              <c:f>GRU</c:f>
              <c:strCache>
                <c:ptCount val="1"/>
                <c:pt idx="0">
                  <c:v>GRU</c:v>
                </c:pt>
              </c:strCache>
            </c:strRef>
          </c:tx>
          <c:spPr>
            <a:solidFill>
              <a:srgbClr val="009CB6"/>
            </a:solidFill>
          </c:spPr>
          <c:invertIfNegative val="0"/>
          <c:dLbls>
            <c:delete val="1"/>
          </c:dLbls>
          <c:cat>
            <c:strRef>
              <c:f>'Chart Data'!$E$2:$E$5</c:f>
              <c:strCache>
                <c:ptCount val="4"/>
                <c:pt idx="0">
                  <c:v>DLPRB</c:v>
                </c:pt>
                <c:pt idx="1">
                  <c:v>DLThpVol</c:v>
                </c:pt>
                <c:pt idx="2">
                  <c:v>DLThpTime</c:v>
                </c:pt>
                <c:pt idx="3">
                  <c:v>MR_number</c:v>
                </c:pt>
              </c:strCache>
            </c:strRef>
          </c:cat>
          <c:val>
            <c:numRef>
              <c:f>'Chart Data'!$F$2:$F$5</c:f>
              <c:numCache>
                <c:formatCode>0.0</c:formatCode>
                <c:ptCount val="4"/>
                <c:pt idx="0">
                  <c:v>0.801694</c:v>
                </c:pt>
                <c:pt idx="1">
                  <c:v>0.549158</c:v>
                </c:pt>
                <c:pt idx="2">
                  <c:v>0.708258</c:v>
                </c:pt>
                <c:pt idx="3">
                  <c:v>0.885797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5E0E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6668">
              <a:solidFill>
                <a:srgbClr val="D5E0E9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425" b="0" i="0" u="none" strike="noStrike" kern="1200" baseline="0">
              <a:solidFill>
                <a:srgbClr val="283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b6042e1-7f07-4bcb-bba7-5b2c0b65b936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候选标记率</c:f>
              <c:strCache>
                <c:ptCount val="1"/>
                <c:pt idx="0">
                  <c:v>候选标记率</c:v>
                </c:pt>
              </c:strCache>
            </c:strRef>
          </c:tx>
          <c:spPr>
            <a:solidFill>
              <a:srgbClr val="009CB6"/>
            </a:solidFill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3σ</c:v>
                </c:pt>
                <c:pt idx="1">
                  <c:v>IQR</c:v>
                </c:pt>
                <c:pt idx="2">
                  <c:v>Isolation Forest</c:v>
                </c:pt>
                <c:pt idx="3">
                  <c:v>共识规则</c:v>
                </c:pt>
              </c:strCache>
            </c:strRef>
          </c:cat>
          <c:val>
            <c:numRef>
              <c:f>'Chart Data'!$B$2:$B$5</c:f>
              <c:numCache>
                <c:formatCode>0.00%</c:formatCode>
                <c:ptCount val="4"/>
                <c:pt idx="0">
                  <c:v>0.04559152</c:v>
                </c:pt>
                <c:pt idx="1">
                  <c:v>0.10606399</c:v>
                </c:pt>
                <c:pt idx="2">
                  <c:v>0.02046131</c:v>
                </c:pt>
                <c:pt idx="3">
                  <c:v>0.00654142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5E0E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12"/>
          <c:min val="0"/>
        </c:scaling>
        <c:delete val="0"/>
        <c:axPos val="l"/>
        <c:majorGridlines>
          <c:spPr>
            <a:ln w="6668">
              <a:solidFill>
                <a:srgbClr val="D5E0E9"/>
              </a:solidFill>
              <a:prstDash val="solid"/>
              <a:round/>
            </a:ln>
          </c:spPr>
        </c:majorGridlines>
        <c:numFmt formatCode="0.0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0.02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1cfb608c-915e-45ad-b8f6-ed62e39efbb4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20 秒</a:t>
            </a:r>
          </a:p>
          <a:p/>
          <a:p>
            <a:r>
              <a:t>老师好，我汇报的是《基于 AI 的 5G 网络 KPI 预测与异常检测系统》。我会按项目实际推进的顺序介绍：先搭建并验证 5G 网络，再处理波束级 KPI 数据，比较预测和异常检测方法，最后将算法整合进可操作的 Web 系统。整个项目的重点，是把通信实验、数据分析和软件工程串成一套可复现的成果。</a:t>
            </a:r>
          </a:p>
          <a:p/>
          <a:p>
            <a:r>
              <a:t>资料来源：完整技术报告；正式实验指标表；Web 实测截图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35 秒</a:t>
            </a:r>
          </a:p>
          <a:p/>
          <a:p>
            <a:r>
              <a:t>项目想解决两个很具体的问题：一是利用历史数据预测下一小时的 KPI，二是从大量记录中筛选需要重点关注的异常时段。我们从通信和算法两个方向入手。通信实验采用 free5GC 与 UERANSIM 验证注册、PDU Session 和用户面转发；模型分析则采用公开的 gotsf-ds 波束级 KPI 数据。两部分共同支撑系统的技术理解与应用实现。</a:t>
            </a:r>
          </a:p>
          <a:p/>
          <a:p>
            <a:r>
              <a:t>资料来源：项目 README.md；docs/ARCHITECTURE.md；技术报告第 1 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50 秒</a:t>
            </a:r>
          </a:p>
          <a:p/>
          <a:p>
            <a:r>
              <a:t>通信实验最初遇到的障碍是 gtp5g 内核模块。Windows 的 WSL2 使用定制内核，不适合直接沿用计划中的模块构建流程。于是我调整了环境，把 AI 开发留在 WSL2，用两台 Ubuntu 22.04 虚拟机部署 free5GC 和 UERANSIM。成功注册并建立 PDU Session 后，UE 的隧道接口能访问外网。我又进一步检查 Wireshark 抓包：Frame 617 配置的上行 TEID 为 0x2，Frame 646 的 GTP-U 报文使用相同 TEID，并承载 ICMP。这样不仅证明了连通性，也把控制面配置和用户面报文对应起来。</a:t>
            </a:r>
          </a:p>
          <a:p/>
          <a:p>
            <a:r>
              <a:t>资料来源：W1 环境配置文档；协议分析.pdf；信令流程.pdf；技术报告第 2 章</a:t>
            </a:r>
          </a:p>
          <a:p/>
          <a:p>
            <a:r>
              <a:t>依据《项目技术报告》第3页：Frame617中UPF UL TEID=0x00000002；Frame618中gNB侧TEID=0x00000001。Frame646上行使用0x2，不将上、下行报文都标成同一TEID。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报告第5页表4：三折外层目标为384–479、480–575、576–671，各276,480条；留出目标672–839，共483,840条。留出训练标签169–587，内部验证588–671。正式预测实验的scaler只用Time0–587原始观测拟合。通用预处理及异常检测的0–671拟合口径不混入正式预测。报告第10页说明留出期曾用于项目选型。MAE/RMSE保持数据集原始数值尺度，不换算为Mbps或百分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参数见报告表5：RF=30棵、深度16、叶样本20、max_features=sqrt、max_samples=0.6；XGBoost=250轮、深度8、学习率0.05、subsample/colsample=0.8；GRU=hidden32、Adam0.001、batch256、最多12轮、patience3。各模型每场景共享同一60,000训练标签。输入表示、早停与计算量不同，比较用于工程选型。独立RF超参搜索仅针对DLPRB，Optuna TPE12次，256beam三折平均RMSE，最优分数0.473700。LSTM/Transformer属独立架构探索，其scaler覆盖内部验证，不混入正式三模型比较。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依据报告第7页表7与正式metrics.csv。RF R²依次0.769915、0.584089、0.684194、0.854584；XGBoost依次0.765584、0.432144、0.634282、0.852792；GRU依次0.801694、0.549158、0.708258、0.885797。图表与表格按报告保留6位，完整原值见metrics.csv。相对改善=(RF MAE−GRU MAE)/RF MAE。GRU DLThpVol RMSE=0.498167，RF=0.478479。GRU在其余三KPI的RMSE及R²更好。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报告表8三折均值与折间SD，均使用模型seed42。SD为相邻评价窗离散程度，不是独立重复试验置信区间。DLThpVol GRU RMSE=1.0353±0.3805，折间波动较大。表9配对检验将相同beam-hour损失按小时平均，168对小时损失，Newey–West HAC、Bartlett权重、带宽24、双侧正态近似；每个种子3模型对×4KPI×2损失=24项Holm校正。CI为逐项HAC区间，p为Holm校正后。seed42 DLThpVol MAE/MSE均不显著；其余3KPI两类损失显著降低。GRU相对XGBoost四KPI两类损失均显著降低。seed43 DLThpVol MAE p=0.01035，MSE p=0.3196。两种子共享抽样与测试时段，仅复核有限初始化变化。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55 秒</a:t>
            </a:r>
          </a:p>
          <a:p/>
          <a:p>
            <a:r>
              <a:t>导师提出过一个很好的问题：为什么不同异常检测方法的标记率差别这么大？我进一步按波束分析了四项 KPI 的训练数据分布。比如 DLThpVol 有 98.3% 的波束呈现明显偏态，75.5% 的波束具有较高的超额峰度；而 3σ 和 IQR 本来就使用不同尺度的阈值，因此在完整测试集上，IQR 标记 10.61%，3σ 标记 4.56%，Isolation Forest 标记 2.05%。我又比较了 AND、OR 的多种组合：全部取并集会得到 58,108 条候选，三种方法同时满足只有 2,074 条。最后选用 IF AND（3σ OR IQR），让多变量异常和统计偏离相互支持，得到 3,165 条重点候选，占 483,840 条正式测试记录的 0.654%。</a:t>
            </a:r>
          </a:p>
          <a:p/>
          <a:p>
            <a:r>
              <a:t>资料来源：reports/w4_anomaly_diagnostics_report.md；reports/w4_anomaly_logic_comparison.csv；reports/w4_anomaly_threshold_shape_summary.csv</a:t>
            </a:r>
          </a:p>
          <a:p/>
          <a:p>
            <a:r>
              <a:t>报告第10–12页：3σ=22,059/483,840；IQR=51,318/483,840；IF=9,900/483,840；SVM=552/12,000，抽样分母不与全量直接排名。共识IF∩(3σ∪IQR)=3,165；IF∩IQR=3,159，增量6条。偏态、厚尾和阈值宽度共同提供标记率差异解释。没有故障真值，候选率不代表故障率或检测精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60 秒</a:t>
            </a:r>
          </a:p>
          <a:p/>
          <a:p>
            <a:r>
              <a:t>算法能够运行之后，下一步是让多轮实验互不干扰。我们确实遇到过不同深度学习实验写入同一历史目录、产生 train_scale_mean 不一致的冲突。为了解决它，我把每一轮训练的参数、标准化信息、权重、测试指标和图表都放进独立 run_id 目录，避免重复训练覆盖正式结果。长时间训练还需要让用户看见进度，于是后台任务通过 WebSocket 把日志实时传到界面。现在六个功能页面分别管理数据、训练、实验记录、预测、异常检测和 KPI 关联分析，形成了完整的操作流程。</a:t>
            </a:r>
          </a:p>
          <a:p/>
          <a:p>
            <a:r>
              <a:t>资料来源：docs/ARCHITECTURE.md；reports/week4/w4_final_weekly_report.md；Web 界面截图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35 秒</a:t>
            </a:r>
          </a:p>
          <a:p/>
          <a:p>
            <a:r>
              <a:t>这是我在 Web 里实际运行的下一小时预测。系统从预处理数据中提取一个波束最近连续 169 小时的历史，作为符合特征窗口要求的演示输入。用户选择已保存的模型，系统按同样的预处理参数构造输入并计算下一小时结果。截图中目标时间是 Time 840，MR_number 预测值为 0.6485。界面同时显示结果图，并支持导出 CSV。整个过程从数据准备到模型计算和结果导出都能直接操作。</a:t>
            </a:r>
          </a:p>
          <a:p/>
          <a:p>
            <a:r>
              <a:t>资料来源：截图 03_kpi_prediction.png；src/data/prepare_demo_inputs.py；src/models/inference.py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40 秒</a:t>
            </a:r>
          </a:p>
          <a:p/>
          <a:p>
            <a:r>
              <a:t>异常检测的输入与单波束预测不同，需要全部波束在相同的连续时间轴上对齐。我专门设置了异常检测的演示数据生成与校验流程，自动提取 2,880 个波束的最近三个小时，其中第一个小时用来计算差分特征，后两个小时进行检测。这样本次共处理 5,760 条待检测记录，得到 58 条共识候选。右侧可以查看逐小时标记率，下面能够查看每条记录的检测标志，并将结果导出 CSV。这展示了完整的异常分析操作链路。</a:t>
            </a:r>
          </a:p>
          <a:p/>
          <a:p>
            <a:r>
              <a:t>资料来源：截图 04_anomaly_detection-1/-2.png；src/models/inference.py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50 秒</a:t>
            </a:r>
          </a:p>
          <a:p/>
          <a:p>
            <a:r>
              <a:t>得到异常候选后，我继续分析这些指标是否存在同步变化。正式历史实验中，我们针对全部 3,165 条候选、覆盖的 30 个基站计算 Pearson 相关性，并采用基站聚类稳健检验及 Holm 多重比较校正。DLPRB 与 MR_number 的相关性最强，r 为 0.889，对应调整后 p 值约 1.10×10⁻²⁸；DLPRB 与 DLThpTime 的 r 为 0.697。实际 Web 还可以直接基于刚才检测得到的 58 条候选重新计算矩阵，DLPRB 与 MR_number 的 r 约为 0.82。这些结果为资源使用、调度及测量活动的进一步排查提供了具体切入点；确认设备故障原因时再结合告警和工单信息。</a:t>
            </a:r>
          </a:p>
          <a:p/>
          <a:p>
            <a:r>
              <a:t>资料来源：reports/w4_anomaly_kpi_correlation_tests.csv；截图 05_kpi_association.png</a:t>
            </a:r>
          </a:p>
          <a:p/>
          <a:p>
            <a:r>
              <a:t>正式候选n=3,165、30站，6对相关的站级聚类稳健零回归斜率检验进行Holm校正；p值不是假设3,165条独立观测的普通Pearson检验。DLPRB/MR_number站级bootstrap95%CI=[0.841,0.918]，DLPRB/DLThpTime=[0.485,0.795]。58条Web候选另算相关矩阵，其r≈0.82不与正式r=0.889混用。相关不构成根因证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报告第15页表18与R21：57项自动测试通过；六页exceptions与visible_errors为空；seed42 GRU1个及RF/XGBoost各四个工件通过现有推理接口回载和CSV往返；既有异常工件验证5,760条。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训练前缀scaler、三折扩展窗口与双种子已完成，列入已交付内容。后续方向是增加验证覆盖与独立外部数据，接入有真值的故障工单、告警与无线质量记录。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01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通信工程项目最终汇报"/>
          <p:cNvSpPr>
            <a:spLocks noGrp="1"/>
          </p:cNvSpPr>
          <p:nvPr/>
        </p:nvSpPr>
        <p:spPr>
          <a:xfrm>
            <a:off x="571500" y="781050"/>
            <a:ext cx="1000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通信工程项目最终汇报</a:t>
            </a:r>
            <a:endParaRPr sz="195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5G 网络 KPI&#10;预测与异常检测系统"/>
          <p:cNvSpPr>
            <a:spLocks noGrp="1"/>
          </p:cNvSpPr>
          <p:nvPr/>
        </p:nvSpPr>
        <p:spPr>
          <a:xfrm>
            <a:off x="571500" y="1638300"/>
            <a:ext cx="11001375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45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45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45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45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45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45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45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45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45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45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5G 网络 KPI</a:t>
            </a:r>
            <a:endParaRPr sz="45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45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预测与异常检测系统</a:t>
            </a:r>
            <a:endParaRPr sz="45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5G SA 协议验证与公开 KPI 数据建模"/>
          <p:cNvSpPr>
            <a:spLocks noGrp="1"/>
          </p:cNvSpPr>
          <p:nvPr/>
        </p:nvSpPr>
        <p:spPr>
          <a:xfrm>
            <a:off x="609600" y="36004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5G SA 协议验证与公开 KPI 数据建模</a:t>
            </a:r>
            <a:endParaRPr sz="2400" b="0">
              <a:solidFill>
                <a:srgbClr val="283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2,880"/>
          <p:cNvSpPr>
            <a:spLocks noGrp="1"/>
          </p:cNvSpPr>
          <p:nvPr/>
        </p:nvSpPr>
        <p:spPr>
          <a:xfrm>
            <a:off x="609600" y="4686300"/>
            <a:ext cx="2762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2,880</a:t>
            </a:r>
            <a:endParaRPr sz="45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波束级时间序列"/>
          <p:cNvSpPr>
            <a:spLocks noGrp="1"/>
          </p:cNvSpPr>
          <p:nvPr/>
        </p:nvSpPr>
        <p:spPr>
          <a:xfrm>
            <a:off x="628650" y="54292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波束级时间序列</a:t>
            </a:r>
            <a:endParaRPr sz="180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483,840"/>
          <p:cNvSpPr>
            <a:spLocks noGrp="1"/>
          </p:cNvSpPr>
          <p:nvPr/>
        </p:nvSpPr>
        <p:spPr>
          <a:xfrm>
            <a:off x="4248150" y="4686300"/>
            <a:ext cx="3714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483,840</a:t>
            </a:r>
            <a:endParaRPr sz="45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正式测试观测"/>
          <p:cNvSpPr>
            <a:spLocks noGrp="1"/>
          </p:cNvSpPr>
          <p:nvPr/>
        </p:nvSpPr>
        <p:spPr>
          <a:xfrm>
            <a:off x="4286250" y="54292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正式留出观测</a:t>
            </a:r>
            <a:endParaRPr sz="180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6"/>
          <p:cNvSpPr>
            <a:spLocks noGrp="1"/>
          </p:cNvSpPr>
          <p:nvPr/>
        </p:nvSpPr>
        <p:spPr>
          <a:xfrm>
            <a:off x="8810625" y="4686300"/>
            <a:ext cx="2095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45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eb 功能模块"/>
          <p:cNvSpPr>
            <a:spLocks noGrp="1"/>
          </p:cNvSpPr>
          <p:nvPr/>
        </p:nvSpPr>
        <p:spPr>
          <a:xfrm>
            <a:off x="8810625" y="542925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功能模块</a:t>
            </a:r>
            <a:endParaRPr sz="180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导师汇报  /  2026 年 10 月"/>
          <p:cNvSpPr>
            <a:spLocks noGrp="1"/>
          </p:cNvSpPr>
          <p:nvPr/>
        </p:nvSpPr>
        <p:spPr>
          <a:xfrm>
            <a:off x="609600" y="64579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2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导师汇报  /  2026 年 10 月 25 日</a:t>
            </a:r>
            <a:endParaRPr sz="120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1" name="直接箭头连接符 17"/>
          <p:cNvCxnSpPr>
            <a:stCxn id="15" idx="3"/>
            <a:endCxn id="16" idx="1"/>
          </p:cNvCxnSpPr>
          <p:nvPr/>
        </p:nvCxnSpPr>
        <p:spPr>
          <a:xfrm>
            <a:off x="7467600" y="4881563"/>
            <a:ext cx="609600" cy="0"/>
          </a:xfrm>
          <a:prstGeom prst="straightConnector1">
            <a:avLst/>
          </a:prstGeom>
          <a:ln w="19050">
            <a:solidFill>
              <a:srgbClr val="009CB6"/>
            </a:solidFill>
            <a:tailEnd type="triangle" w="sm" len="sm"/>
          </a:ln>
        </p:spPr>
      </p:cxnSp>
      <p:cxnSp>
        <p:nvCxnSpPr>
          <p:cNvPr id="22" name="直接箭头连接符 16"/>
          <p:cNvCxnSpPr>
            <a:stCxn id="14" idx="3"/>
            <a:endCxn id="15" idx="1"/>
          </p:cNvCxnSpPr>
          <p:nvPr/>
        </p:nvCxnSpPr>
        <p:spPr>
          <a:xfrm>
            <a:off x="3619500" y="4881563"/>
            <a:ext cx="609600" cy="0"/>
          </a:xfrm>
          <a:prstGeom prst="straightConnector1">
            <a:avLst/>
          </a:prstGeom>
          <a:ln w="19050">
            <a:solidFill>
              <a:srgbClr val="009CB6"/>
            </a:solidFill>
            <a:tailEnd type="triangle" w="sm" len="sm"/>
          </a:ln>
        </p:spPr>
      </p:cxnSp>
      <p:cxnSp>
        <p:nvCxnSpPr>
          <p:cNvPr id="23" name="直接箭头连接符 10"/>
          <p:cNvCxnSpPr>
            <a:stCxn id="8" idx="3"/>
            <a:endCxn id="9" idx="1"/>
          </p:cNvCxnSpPr>
          <p:nvPr/>
        </p:nvCxnSpPr>
        <p:spPr>
          <a:xfrm>
            <a:off x="7467600" y="2709863"/>
            <a:ext cx="609600" cy="0"/>
          </a:xfrm>
          <a:prstGeom prst="straightConnector1">
            <a:avLst/>
          </a:prstGeom>
          <a:ln w="19050">
            <a:solidFill>
              <a:srgbClr val="009CB6"/>
            </a:solidFill>
            <a:tailEnd type="triangle" w="sm" len="sm"/>
          </a:ln>
        </p:spPr>
      </p:cxnSp>
      <p:cxnSp>
        <p:nvCxnSpPr>
          <p:cNvPr id="24" name="直接箭头连接符 9"/>
          <p:cNvCxnSpPr>
            <a:stCxn id="7" idx="3"/>
            <a:endCxn id="8" idx="1"/>
          </p:cNvCxnSpPr>
          <p:nvPr/>
        </p:nvCxnSpPr>
        <p:spPr>
          <a:xfrm>
            <a:off x="3619500" y="2709863"/>
            <a:ext cx="609600" cy="0"/>
          </a:xfrm>
          <a:prstGeom prst="straightConnector1">
            <a:avLst/>
          </a:prstGeom>
          <a:ln w="19050">
            <a:solidFill>
              <a:srgbClr val="009CB6"/>
            </a:solidFill>
            <a:tailEnd type="triangle" w="sm" len="sm"/>
          </a:ln>
        </p:spPr>
      </p:cxnSp>
      <p:sp>
        <p:nvSpPr>
          <p:cNvPr id="20" name="项目背景与研究范围"/>
          <p:cNvSpPr>
            <a:spLocks noGrp="1"/>
          </p:cNvSpPr>
          <p:nvPr/>
        </p:nvSpPr>
        <p:spPr>
          <a:xfrm>
            <a:off x="571500" y="3238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项目目标：打通通信验证与 KPI 智能分析</a:t>
            </a:r>
            <a:endParaRPr sz="31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项目以短时趋势预测与异常候选筛选辅助人工排查"/>
          <p:cNvSpPr>
            <a:spLocks noGrp="1"/>
          </p:cNvSpPr>
          <p:nvPr/>
        </p:nvSpPr>
        <p:spPr>
          <a:xfrm>
            <a:off x="571500" y="9715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围绕下一小时预测、异常筛选与交互分析构建完整工作流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457325"/>
            <a:ext cx="11049000" cy="0"/>
          </a:xfrm>
          <a:prstGeom prst="line">
            <a:avLst/>
          </a:prstGeom>
          <a:noFill/>
          <a:ln w="9525">
            <a:solidFill>
              <a:srgbClr val="D5E0E9"/>
            </a:solidFill>
          </a:ln>
        </p:spPr>
        <p:txBody>
          <a:bodyPr/>
          <a:lstStyle/>
          <a:p/>
        </p:txBody>
      </p:sp>
      <p:sp>
        <p:nvSpPr>
          <p:cNvPr id="4" name="02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来源：README.md；完整技术报告第 1 章；新版 docs/ARC"/>
          <p:cNvSpPr>
            <a:spLocks noGrp="1"/>
          </p:cNvSpPr>
          <p:nvPr/>
        </p:nvSpPr>
        <p:spPr>
          <a:xfrm>
            <a:off x="571500" y="6457950"/>
            <a:ext cx="990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来源：README.md；完整技术报告第</a:t>
            </a: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章；ARCHITECTURE.md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通信实验"/>
          <p:cNvSpPr>
            <a:spLocks noGrp="1"/>
          </p:cNvSpPr>
          <p:nvPr/>
        </p:nvSpPr>
        <p:spPr>
          <a:xfrm>
            <a:off x="571500" y="17526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通信实验</a:t>
            </a:r>
            <a:endParaRPr sz="22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free5GC + UERANSIM"/>
          <p:cNvSpPr>
            <a:spLocks noGrp="1"/>
          </p:cNvSpPr>
          <p:nvPr/>
        </p:nvSpPr>
        <p:spPr>
          <a:xfrm>
            <a:off x="571500" y="2400300"/>
            <a:ext cx="3048000" cy="619125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free5GC + UERANSIM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注册与 PDU Session"/>
          <p:cNvSpPr>
            <a:spLocks noGrp="1"/>
          </p:cNvSpPr>
          <p:nvPr/>
        </p:nvSpPr>
        <p:spPr>
          <a:xfrm>
            <a:off x="4229100" y="2400300"/>
            <a:ext cx="3238500" cy="619125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注册与 PDU Session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2 / N3 抓包验证"/>
          <p:cNvSpPr>
            <a:spLocks noGrp="1"/>
          </p:cNvSpPr>
          <p:nvPr/>
        </p:nvSpPr>
        <p:spPr>
          <a:xfrm>
            <a:off x="8077200" y="2400300"/>
            <a:ext cx="3524250" cy="619125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N2 / N3 抓包验证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独立验证控制面和用户面流程"/>
          <p:cNvSpPr>
            <a:spLocks noGrp="1"/>
          </p:cNvSpPr>
          <p:nvPr/>
        </p:nvSpPr>
        <p:spPr>
          <a:xfrm>
            <a:off x="571500" y="3209925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独立验证控制面和用户面流程</a:t>
            </a:r>
            <a:endParaRPr sz="1875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I 分析系统"/>
          <p:cNvSpPr>
            <a:spLocks noGrp="1"/>
          </p:cNvSpPr>
          <p:nvPr/>
        </p:nvSpPr>
        <p:spPr>
          <a:xfrm>
            <a:off x="571500" y="3933825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分析系统</a:t>
            </a:r>
            <a:endParaRPr sz="22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公开 gotsf-ds KPI"/>
          <p:cNvSpPr>
            <a:spLocks noGrp="1"/>
          </p:cNvSpPr>
          <p:nvPr/>
        </p:nvSpPr>
        <p:spPr>
          <a:xfrm>
            <a:off x="571500" y="4572000"/>
            <a:ext cx="3048000" cy="619125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</a:t>
            </a: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gotsf</a:t>
            </a: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-ds KPI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下一小时预测与候选检测"/>
          <p:cNvSpPr>
            <a:spLocks noGrp="1"/>
          </p:cNvSpPr>
          <p:nvPr/>
        </p:nvSpPr>
        <p:spPr>
          <a:xfrm>
            <a:off x="4229100" y="4572000"/>
            <a:ext cx="3238500" cy="619125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下一小时预测与候选检测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treamlit 交互与导出"/>
          <p:cNvSpPr>
            <a:spLocks noGrp="1"/>
          </p:cNvSpPr>
          <p:nvPr/>
        </p:nvSpPr>
        <p:spPr>
          <a:xfrm>
            <a:off x="8077200" y="4572000"/>
            <a:ext cx="3524250" cy="619125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Streamlit 交互与导出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两条证据来源独立，实时采集接口属于后续工程工作"/>
          <p:cNvSpPr>
            <a:spLocks noGrp="1"/>
          </p:cNvSpPr>
          <p:nvPr/>
        </p:nvSpPr>
        <p:spPr>
          <a:xfrm>
            <a:off x="571500" y="55626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通信侧验证 N2/N3 链路，AI 侧完成波束级 KPI 预测和分析</a:t>
            </a:r>
            <a:endParaRPr sz="195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9" name="直接箭头连接符 11"/>
          <p:cNvCxnSpPr>
            <a:stCxn id="8" idx="3"/>
            <a:endCxn id="9" idx="1"/>
          </p:cNvCxnSpPr>
          <p:nvPr/>
        </p:nvCxnSpPr>
        <p:spPr>
          <a:xfrm>
            <a:off x="8715375" y="2352675"/>
            <a:ext cx="619125" cy="0"/>
          </a:xfrm>
          <a:prstGeom prst="straightConnector1">
            <a:avLst/>
          </a:prstGeom>
          <a:ln w="19050">
            <a:solidFill>
              <a:srgbClr val="009CB6"/>
            </a:solidFill>
            <a:tailEnd type="triangle" w="sm" len="sm"/>
          </a:ln>
        </p:spPr>
      </p:cxnSp>
      <p:cxnSp>
        <p:nvCxnSpPr>
          <p:cNvPr id="20" name="直接箭头连接符 10"/>
          <p:cNvCxnSpPr>
            <a:stCxn id="7" idx="3"/>
            <a:endCxn id="8" idx="1"/>
          </p:cNvCxnSpPr>
          <p:nvPr/>
        </p:nvCxnSpPr>
        <p:spPr>
          <a:xfrm>
            <a:off x="5524500" y="2352675"/>
            <a:ext cx="666750" cy="0"/>
          </a:xfrm>
          <a:prstGeom prst="straightConnector1">
            <a:avLst/>
          </a:prstGeom>
          <a:ln w="19050">
            <a:solidFill>
              <a:srgbClr val="009CB6"/>
            </a:solidFill>
            <a:tailEnd type="triangle" w="sm" len="sm"/>
          </a:ln>
        </p:spPr>
      </p:cxnSp>
      <p:cxnSp>
        <p:nvCxnSpPr>
          <p:cNvPr id="21" name="直接箭头连接符 9"/>
          <p:cNvCxnSpPr>
            <a:stCxn id="6" idx="3"/>
            <a:endCxn id="7" idx="1"/>
          </p:cNvCxnSpPr>
          <p:nvPr/>
        </p:nvCxnSpPr>
        <p:spPr>
          <a:xfrm>
            <a:off x="2428875" y="2352675"/>
            <a:ext cx="571500" cy="0"/>
          </a:xfrm>
          <a:prstGeom prst="straightConnector1">
            <a:avLst/>
          </a:prstGeom>
          <a:ln w="19050">
            <a:solidFill>
              <a:srgbClr val="009CB6"/>
            </a:solidFill>
            <a:tailEnd type="triangle" w="sm" len="sm"/>
          </a:ln>
        </p:spPr>
      </p:cxnSp>
      <p:sp>
        <p:nvSpPr>
          <p:cNvPr id="17" name="5G SA 仿真与协议分析"/>
          <p:cNvSpPr>
            <a:spLocks noGrp="1"/>
          </p:cNvSpPr>
          <p:nvPr/>
        </p:nvSpPr>
        <p:spPr>
          <a:xfrm>
            <a:off x="571500" y="3238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5G SA 仿真与协议分析</a:t>
            </a:r>
            <a:endParaRPr sz="31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控制面配置的 TEID 与 N3 用户面报文一致，支持链路验证"/>
          <p:cNvSpPr>
            <a:spLocks noGrp="1"/>
          </p:cNvSpPr>
          <p:nvPr/>
        </p:nvSpPr>
        <p:spPr>
          <a:xfrm>
            <a:off x="571500" y="9715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控制面配置的 TEID 与 N3 用户面报文一致，支持链路验证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457325"/>
            <a:ext cx="11049000" cy="0"/>
          </a:xfrm>
          <a:prstGeom prst="line">
            <a:avLst/>
          </a:prstGeom>
          <a:noFill/>
          <a:ln w="9525">
            <a:solidFill>
              <a:srgbClr val="D5E0E9"/>
            </a:solidFill>
          </a:ln>
        </p:spPr>
        <p:txBody>
          <a:bodyPr/>
          <a:lstStyle/>
          <a:p/>
        </p:txBody>
      </p:sp>
      <p:sp>
        <p:nvSpPr>
          <p:cNvPr id="4" name="03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来源：完整技术报告第 2 章；前期协议分析报告的 PCAP Frame "/>
          <p:cNvSpPr>
            <a:spLocks noGrp="1"/>
          </p:cNvSpPr>
          <p:nvPr/>
        </p:nvSpPr>
        <p:spPr>
          <a:xfrm>
            <a:off x="571500" y="6457950"/>
            <a:ext cx="990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来源：完整技术报告第 2 章；前期协议分析报告的 PCAP Frame 记录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UE&#10;10.60.0.1"/>
          <p:cNvSpPr>
            <a:spLocks noGrp="1"/>
          </p:cNvSpPr>
          <p:nvPr/>
        </p:nvSpPr>
        <p:spPr>
          <a:xfrm>
            <a:off x="571500" y="1924050"/>
            <a:ext cx="1857375" cy="857250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UE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10.60.0.1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gNB&#10;192.168.56.102"/>
          <p:cNvSpPr>
            <a:spLocks noGrp="1"/>
          </p:cNvSpPr>
          <p:nvPr/>
        </p:nvSpPr>
        <p:spPr>
          <a:xfrm>
            <a:off x="3000375" y="1924050"/>
            <a:ext cx="2524125" cy="857250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gNB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192.168.56.102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UPF&#10;192.168.56.101"/>
          <p:cNvSpPr>
            <a:spLocks noGrp="1"/>
          </p:cNvSpPr>
          <p:nvPr/>
        </p:nvSpPr>
        <p:spPr>
          <a:xfrm>
            <a:off x="6191250" y="1924050"/>
            <a:ext cx="2524125" cy="857250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UPF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192.168.56.101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外网&#10;8.8.8.8"/>
          <p:cNvSpPr>
            <a:spLocks noGrp="1"/>
          </p:cNvSpPr>
          <p:nvPr/>
        </p:nvSpPr>
        <p:spPr>
          <a:xfrm>
            <a:off x="9334500" y="1924050"/>
            <a:ext cx="2286000" cy="857250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外网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8.8.8.8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N3：GTP-U / UDP 2152"/>
          <p:cNvSpPr>
            <a:spLocks noGrp="1"/>
          </p:cNvSpPr>
          <p:nvPr/>
        </p:nvSpPr>
        <p:spPr>
          <a:xfrm>
            <a:off x="5810250" y="2905125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6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6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N3：GTP-U / UDP 2152</a:t>
            </a:r>
            <a:endParaRPr sz="165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N2 连接 gNB 与 AMF，SMF 管理会话"/>
          <p:cNvSpPr>
            <a:spLocks noGrp="1"/>
          </p:cNvSpPr>
          <p:nvPr/>
        </p:nvSpPr>
        <p:spPr>
          <a:xfrm>
            <a:off x="571500" y="290512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6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6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N2 连接 gNB 与 AMF，SMF 管理会话</a:t>
            </a:r>
            <a:endParaRPr sz="16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3" name="表格 14"/>
          <p:cNvGraphicFramePr/>
          <p:nvPr/>
        </p:nvGraphicFramePr>
        <p:xfrm>
          <a:off x="571500" y="3429000"/>
          <a:ext cx="11049000" cy="2457450"/>
        </p:xfrm>
        <a:graphic>
          <a:graphicData uri="http://schemas.openxmlformats.org/drawingml/2006/table">
            <a:tbl>
              <a:tblPr/>
              <a:tblGrid>
                <a:gridCol w="2333625"/>
                <a:gridCol w="5048250"/>
                <a:gridCol w="3667125"/>
              </a:tblGrid>
              <a:tr h="4914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抓包证据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关键报文或字段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验证内容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Frame 564 / 566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NGSetup Request / Response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NG 接口初始化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Frame 604–608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注册、认证与安全模式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UE 接入控制流程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Frame 617 / 618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N3 地址；UL 0x2 / DL 0x1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PDU Session 资源配置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Frame 646 / 647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GTP-U 承载 ICMP 往返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用户面双向通信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6" name="UE 隧道接口 ping 约 10–12 ms，仅描述该实验的基本连通性"/>
          <p:cNvSpPr>
            <a:spLocks noGrp="1"/>
          </p:cNvSpPr>
          <p:nvPr/>
        </p:nvSpPr>
        <p:spPr>
          <a:xfrm>
            <a:off x="571500" y="60579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UE 隧道接口成功访问外网，ping 往返约 10–12 ms</a:t>
            </a:r>
            <a:endParaRPr sz="1425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KPI 数据与时序预处理"/>
          <p:cNvSpPr>
            <a:spLocks noGrp="1"/>
          </p:cNvSpPr>
          <p:nvPr/>
        </p:nvSpPr>
        <p:spPr>
          <a:xfrm>
            <a:off x="571500" y="3238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KPI 数据与时序预处理</a:t>
            </a:r>
            <a:endParaRPr sz="31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按波束对齐并按目标时间切分，正式测试期保持独立"/>
          <p:cNvSpPr>
            <a:spLocks noGrp="1"/>
          </p:cNvSpPr>
          <p:nvPr/>
        </p:nvSpPr>
        <p:spPr>
          <a:xfrm>
            <a:off x="571500" y="9715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按目标时间切分，各场景 scaler 仅在内部训练前缀拟合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457325"/>
            <a:ext cx="11049000" cy="0"/>
          </a:xfrm>
          <a:prstGeom prst="line">
            <a:avLst/>
          </a:prstGeom>
          <a:noFill/>
          <a:ln w="9525">
            <a:solidFill>
              <a:srgbClr val="D5E0E9"/>
            </a:solidFill>
          </a:ln>
        </p:spPr>
        <p:txBody>
          <a:bodyPr/>
          <a:lstStyle/>
          <a:p/>
        </p:txBody>
      </p:sp>
      <p:sp>
        <p:nvSpPr>
          <p:cNvPr id="4" name="04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来源：reports/raw_data_audit_summary.cs"/>
          <p:cNvSpPr>
            <a:spLocks noGrp="1"/>
          </p:cNvSpPr>
          <p:nvPr/>
        </p:nvSpPr>
        <p:spPr>
          <a:xfrm>
            <a:off x="571500" y="6457950"/>
            <a:ext cx="990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来源：《项目技术报告》第4–5、10页；raw_data_audit.json；正式实验 protocol.json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表格 5"/>
          <p:cNvGraphicFramePr/>
          <p:nvPr/>
        </p:nvGraphicFramePr>
        <p:xfrm>
          <a:off x="571500" y="1771650"/>
          <a:ext cx="11049000" cy="2333625"/>
        </p:xfrm>
        <a:graphic>
          <a:graphicData uri="http://schemas.openxmlformats.org/drawingml/2006/table">
            <a:tbl>
              <a:tblPr/>
              <a:tblGrid>
                <a:gridCol w="2333625"/>
                <a:gridCol w="8715375"/>
              </a:tblGrid>
              <a:tr h="4667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数据维度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实际记录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空间与时间</a:t>
                      </a:r>
                      <a:endParaRPr sz="18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 站 / 90 cell / 2,880 beam / 840 小时</a:t>
                      </a:r>
                      <a:endParaRPr sz="18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整理后数据</a:t>
                      </a:r>
                      <a:endParaRPr sz="18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2,419,200 条波束小时观测</a:t>
                      </a:r>
                      <a:endParaRPr sz="18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四项 KPI</a:t>
                      </a:r>
                      <a:endParaRPr sz="18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DLPRB / DLThpVol / DLThpTime / MR_number</a:t>
                      </a:r>
                      <a:endParaRPr sz="18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审计结果</a:t>
                      </a:r>
                      <a:endParaRPr sz="18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四表均缺失 0、重复时间 0、步长 1</a:t>
                      </a:r>
                      <a:endParaRPr sz="18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7" name="训练原始时段&#10;Time 0–671"/>
          <p:cNvSpPr>
            <a:spLocks noGrp="1"/>
          </p:cNvSpPr>
          <p:nvPr/>
        </p:nvSpPr>
        <p:spPr>
          <a:xfrm>
            <a:off x="571500" y="4505325"/>
            <a:ext cx="6477000" cy="723900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defPPr>
              <a:defRPr sz="1800"/>
            </a:defPPr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训练目标 169–587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内部验证目标 588–671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正式测试时段&#10;Time 672–839"/>
          <p:cNvSpPr>
            <a:spLocks noGrp="1"/>
          </p:cNvSpPr>
          <p:nvPr/>
        </p:nvSpPr>
        <p:spPr>
          <a:xfrm>
            <a:off x="7334250" y="4505325"/>
            <a:ext cx="4286250" cy="723900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defPPr>
              <a:defRPr sz="1800"/>
            </a:defPPr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留出评价目标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Time 672–839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训练段拟合变换参数，再应用于后续数据"/>
          <p:cNvSpPr>
            <a:spLocks noGrp="1"/>
          </p:cNvSpPr>
          <p:nvPr/>
        </p:nvSpPr>
        <p:spPr>
          <a:xfrm>
            <a:off x="571500" y="53816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/>
            </a:defPPr>
            <a:lvl1pPr algn="l">
              <a:buNone/>
              <a:defRPr sz="187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留出场景 scaler 拟合范围：Time 0–587，随后冻结应用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历史 DL scaler 使用 0–671，覆盖内部验证段 588–67"/>
          <p:cNvSpPr>
            <a:spLocks noGrp="1"/>
          </p:cNvSpPr>
          <p:nvPr/>
        </p:nvSpPr>
        <p:spPr>
          <a:xfrm>
            <a:off x="571500" y="5876925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/>
            </a:defPPr>
            <a:lvl1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逐小时一步预测；672–839 留出时段曾用于项目选型</a:t>
            </a:r>
            <a:endParaRPr sz="150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传统机器学习与深度学习预测"/>
          <p:cNvSpPr>
            <a:spLocks noGrp="1"/>
          </p:cNvSpPr>
          <p:nvPr/>
        </p:nvSpPr>
        <p:spPr>
          <a:xfrm>
            <a:off x="571500" y="3238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正式预测器与输入协议</a:t>
            </a:r>
            <a:endParaRPr sz="31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统一预测下一小时四项 KPI，输入和训练预算的差异须保留"/>
          <p:cNvSpPr>
            <a:spLocks noGrp="1"/>
          </p:cNvSpPr>
          <p:nvPr/>
        </p:nvSpPr>
        <p:spPr>
          <a:xfrm>
            <a:off x="571500" y="9715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RF、XGBoost、GRU 使用相同训练标签与目标时段，预测 t+1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457325"/>
            <a:ext cx="11049000" cy="0"/>
          </a:xfrm>
          <a:prstGeom prst="line">
            <a:avLst/>
          </a:prstGeom>
          <a:noFill/>
          <a:ln w="9525">
            <a:solidFill>
              <a:srgbClr val="D5E0E9"/>
            </a:solidFill>
          </a:ln>
        </p:spPr>
        <p:txBody>
          <a:bodyPr/>
          <a:lstStyle/>
          <a:p/>
        </p:txBody>
      </p:sp>
      <p:sp>
        <p:nvSpPr>
          <p:cNvPr id="4" name="05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来源：reports/model_run_config.json；w3_"/>
          <p:cNvSpPr>
            <a:spLocks noGrp="1"/>
          </p:cNvSpPr>
          <p:nvPr/>
        </p:nvSpPr>
        <p:spPr>
          <a:xfrm>
            <a:off x="571500" y="6457950"/>
            <a:ext cx="990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来源：《项目技术报告》第5–7页；正式实验 protocol.json；参数登记簿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表格 5"/>
          <p:cNvGraphicFramePr/>
          <p:nvPr/>
        </p:nvGraphicFramePr>
        <p:xfrm>
          <a:off x="571500" y="1762125"/>
          <a:ext cx="11049000" cy="3642360"/>
        </p:xfrm>
        <a:graphic>
          <a:graphicData uri="http://schemas.openxmlformats.org/drawingml/2006/table">
            <a:tbl>
              <a:tblPr/>
              <a:tblGrid>
                <a:gridCol w="1809750"/>
                <a:gridCol w="4619625"/>
                <a:gridCol w="4619625"/>
              </a:tblGrid>
              <a:tr h="5905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比较项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树模型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GRU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正式模型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RandomForest、XGBoost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单层 GRU，hidden=32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KPI × {t, t−1, t−2, t−24, t−168}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 20 维，同一 beam 对齐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截至 t 的连续 24×4 序列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拼接 t−168 的 4 维季节向量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训练与验证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共同抽样 60,000 条训练标签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固定参数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相同 60,000 条训练标签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内部验证 12,000 条用于早停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 KPI 独立拟合，单输出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联合输出四项 KPI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留出评价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Time 672–839，483,840 条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Time 672–839，483,840 条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评价：MAE 关注平均偏差，RMSE 对大误差更敏感，R² 描述拟合程度"/>
          <p:cNvSpPr>
            <a:spLocks noGrp="1"/>
          </p:cNvSpPr>
          <p:nvPr/>
        </p:nvSpPr>
        <p:spPr>
          <a:xfrm>
            <a:off x="571500" y="56769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/>
            </a:defPPr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选型以 MAE 为主；DLThpVol 若重视大误差，则按 RMSE 选择 RF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历史结果使用原始 KPI 数值尺度；训练采样、特征形式与验证策略并非完全"/>
          <p:cNvSpPr>
            <a:spLocks noGrp="1"/>
          </p:cNvSpPr>
          <p:nvPr/>
        </p:nvSpPr>
        <p:spPr>
          <a:xfrm>
            <a:off x="571500" y="6115050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/>
            </a:defPPr>
            <a:lvl1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固定参数比较；RF 另做 TPE 12 次搜索，搜索最优配置未用于本轮复评</a:t>
            </a:r>
            <a:endParaRPr sz="13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正式模型性能比较"/>
          <p:cNvSpPr>
            <a:spLocks noGrp="1"/>
          </p:cNvSpPr>
          <p:nvPr/>
        </p:nvSpPr>
        <p:spPr>
          <a:xfrm>
            <a:off x="571500" y="3238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正式模型性能比较</a:t>
            </a:r>
            <a:endParaRPr sz="31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GRU 的四项 MAE 最低，DLThpVol 的 RMSE 与 R² "/>
          <p:cNvSpPr>
            <a:spLocks noGrp="1"/>
          </p:cNvSpPr>
          <p:nvPr/>
        </p:nvSpPr>
        <p:spPr>
          <a:xfrm>
            <a:off x="571500" y="9715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GRU 的四项 MAE 最低，DLThpVol 的 RMSE 与 R² 由 RandomForest 领先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457325"/>
            <a:ext cx="11049000" cy="0"/>
          </a:xfrm>
          <a:prstGeom prst="line">
            <a:avLst/>
          </a:prstGeom>
          <a:noFill/>
          <a:ln w="9525">
            <a:solidFill>
              <a:srgbClr val="D5E0E9"/>
            </a:solidFill>
          </a:ln>
        </p:spPr>
      </p:sp>
      <p:sp>
        <p:nvSpPr>
          <p:cNvPr id="4" name="06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来源：reports/week3/w3_ml_dl_all_metric"/>
          <p:cNvSpPr>
            <a:spLocks noGrp="1"/>
          </p:cNvSpPr>
          <p:nvPr/>
        </p:nvSpPr>
        <p:spPr>
          <a:xfrm>
            <a:off x="571500" y="6457950"/>
            <a:ext cx="990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来源：《项目技术报告》第7–8页，表7 / 图2；正式实验 metrics.csv（seed42）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正式测试 R²"/>
          <p:cNvSpPr>
            <a:spLocks noGrp="1"/>
          </p:cNvSpPr>
          <p:nvPr/>
        </p:nvSpPr>
        <p:spPr>
          <a:xfrm>
            <a:off x="638175" y="1657350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/>
            </a:defPPr>
            <a:lvl1pPr algn="l">
              <a:buNone/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留出 R²（seed42，n=483,840）</a:t>
            </a:r>
            <a:endParaRPr sz="16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1" name="表格 7"/>
          <p:cNvGraphicFramePr/>
          <p:nvPr/>
        </p:nvGraphicFramePr>
        <p:xfrm>
          <a:off x="7524750" y="1971675"/>
          <a:ext cx="4095750" cy="2971800"/>
        </p:xfrm>
        <a:graphic>
          <a:graphicData uri="http://schemas.openxmlformats.org/drawingml/2006/table">
            <a:tbl>
              <a:tblPr/>
              <a:tblGrid>
                <a:gridCol w="1428750"/>
                <a:gridCol w="1333500"/>
                <a:gridCol w="1333500"/>
              </a:tblGrid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KPI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GRU MAE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最优 RMSE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DLPRB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0.247765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GRU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0.476520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DLThpVol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0.211055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0.478479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DLThpTime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0.236438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GRU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0.519272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MR_number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0.207566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GRU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0.366875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9" name="GRU 对最佳传统 MAE 的相对改善"/>
          <p:cNvSpPr>
            <a:spLocks noGrp="1"/>
          </p:cNvSpPr>
          <p:nvPr/>
        </p:nvSpPr>
        <p:spPr>
          <a:xfrm>
            <a:off x="571500" y="5543550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/>
            </a:defPPr>
            <a:lvl1pPr algn="l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MAE / RMSE 为原始数值尺度；GRU 相对 RF 的 MAE 降幅</a:t>
            </a:r>
            <a:endParaRPr sz="16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DLPRB 6.19%     DLThpVol 1.46%     D"/>
          <p:cNvSpPr>
            <a:spLocks noGrp="1"/>
          </p:cNvSpPr>
          <p:nvPr/>
        </p:nvSpPr>
        <p:spPr>
          <a:xfrm>
            <a:off x="571500" y="595312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/>
            </a:defPPr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DLPRB 7.05%     DLThpVol 0.87%     DLThpTime 4.59%     MR_number 10.15%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2" name="Chart"/>
          <p:cNvGraphicFramePr/>
          <p:nvPr/>
        </p:nvGraphicFramePr>
        <p:xfrm>
          <a:off x="523875" y="2047875"/>
          <a:ext cx="66675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历史评估结果在 Web 中可复查"/>
          <p:cNvSpPr>
            <a:spLocks noGrp="1"/>
          </p:cNvSpPr>
          <p:nvPr/>
        </p:nvSpPr>
        <p:spPr>
          <a:xfrm>
            <a:off x="571500" y="3238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稳健性与显著性验证</a:t>
            </a:r>
            <a:endParaRPr sz="31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模型表、R² 对比与真实值曲线均对应正式历史测试集"/>
          <p:cNvSpPr>
            <a:spLocks noGrp="1"/>
          </p:cNvSpPr>
          <p:nvPr/>
        </p:nvSpPr>
        <p:spPr>
          <a:xfrm>
            <a:off x="571500" y="9715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三折与双种子支持 GRU 选型，DLThpVol 需结合误差目标判断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457325"/>
            <a:ext cx="11049000" cy="0"/>
          </a:xfrm>
          <a:prstGeom prst="line">
            <a:avLst/>
          </a:prstGeom>
          <a:noFill/>
          <a:ln w="9525">
            <a:solidFill>
              <a:srgbClr val="D5E0E9"/>
            </a:solidFill>
          </a:ln>
        </p:spPr>
        <p:txBody>
          <a:bodyPr/>
          <a:lstStyle/>
          <a:p/>
        </p:txBody>
      </p:sp>
      <p:sp>
        <p:nvSpPr>
          <p:cNvPr id="4" name="07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来源：截图 02_model_management-1 / -2 / -"/>
          <p:cNvSpPr>
            <a:spLocks noGrp="1"/>
          </p:cNvSpPr>
          <p:nvPr/>
        </p:nvSpPr>
        <p:spPr>
          <a:xfrm>
            <a:off x="571500" y="6457950"/>
            <a:ext cx="990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来源：《项目技术报告》第8–10页，表8–10；walkforward_summary / holdout_significance / seed_summary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v-title"/>
          <p:cNvSpPr>
            <a:spLocks noGrp="1"/>
          </p:cNvSpPr>
          <p:nvPr/>
        </p:nvSpPr>
        <p:spPr>
          <a:xfrm>
            <a:off x="571500" y="172402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三折扩展窗口：MAE 均值 ± SD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4" name="walkforward-mae"/>
          <p:cNvGraphicFramePr/>
          <p:nvPr/>
        </p:nvGraphicFramePr>
        <p:xfrm>
          <a:off x="571500" y="2228850"/>
          <a:ext cx="5429250" cy="2381250"/>
        </p:xfrm>
        <a:graphic>
          <a:graphicData uri="http://schemas.openxmlformats.org/drawingml/2006/table">
            <a:tbl>
              <a:tblPr/>
              <a:tblGrid>
                <a:gridCol w="1285875"/>
                <a:gridCol w="1381125"/>
                <a:gridCol w="1381125"/>
                <a:gridCol w="1381125"/>
              </a:tblGrid>
              <a:tr h="4762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KPI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L w="6668">
                      <a:solidFill>
                        <a:srgbClr val="DCE6EF"/>
                      </a:solidFill>
                      <a:prstDash val="solid"/>
                    </a:lnL>
                    <a:lnR w="6668">
                      <a:solidFill>
                        <a:srgbClr val="DCE6EF"/>
                      </a:solidFill>
                      <a:prstDash val="solid"/>
                    </a:lnR>
                    <a:lnT w="6668">
                      <a:solidFill>
                        <a:srgbClr val="DCE6EF"/>
                      </a:solidFill>
                      <a:prstDash val="solid"/>
                    </a:lnT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GRU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T w="6668">
                      <a:solidFill>
                        <a:srgbClr val="DCE6EF"/>
                      </a:solidFill>
                      <a:prstDash val="solid"/>
                    </a:lnT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T w="6668">
                      <a:solidFill>
                        <a:srgbClr val="DCE6EF"/>
                      </a:solidFill>
                      <a:prstDash val="solid"/>
                    </a:lnT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XGBoost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T w="6668">
                      <a:solidFill>
                        <a:srgbClr val="DCE6EF"/>
                      </a:solidFill>
                      <a:prstDash val="solid"/>
                    </a:lnT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DLPRB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L w="6668">
                      <a:solidFill>
                        <a:srgbClr val="DCE6EF"/>
                      </a:solidFill>
                      <a:prstDash val="solid"/>
                    </a:lnL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0.2553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 0.0061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0.2695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 0.0029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0.2715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 0.0034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DLThpVol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L w="6668">
                      <a:solidFill>
                        <a:srgbClr val="DCE6EF"/>
                      </a:solidFill>
                      <a:prstDash val="solid"/>
                    </a:lnL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0.2287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 0.0127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0.2381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 0.0152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0.2440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 0.0137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DLThpTime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L w="6668">
                      <a:solidFill>
                        <a:srgbClr val="DCE6EF"/>
                      </a:solidFill>
                      <a:prstDash val="solid"/>
                    </a:lnL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0.2515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 0.0084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0.2628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 0.0125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0.2659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 0.0125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MR_number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L w="6668">
                      <a:solidFill>
                        <a:srgbClr val="DCE6EF"/>
                      </a:solidFill>
                      <a:prstDash val="solid"/>
                    </a:lnL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0.2121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 0.0028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0.2294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 0.0016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0.2291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 0.0021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15" name="sig-title"/>
          <p:cNvSpPr>
            <a:spLocks noGrp="1"/>
          </p:cNvSpPr>
          <p:nvPr/>
        </p:nvSpPr>
        <p:spPr>
          <a:xfrm>
            <a:off x="6286500" y="1724025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留出配对检验：GRU 相对 RF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hac-holm"/>
          <p:cNvGraphicFramePr/>
          <p:nvPr/>
        </p:nvGraphicFramePr>
        <p:xfrm>
          <a:off x="6286500" y="2228850"/>
          <a:ext cx="5334000" cy="2381250"/>
        </p:xfrm>
        <a:graphic>
          <a:graphicData uri="http://schemas.openxmlformats.org/drawingml/2006/table">
            <a:tbl>
              <a:tblPr/>
              <a:tblGrid>
                <a:gridCol w="1714500"/>
                <a:gridCol w="1809750"/>
                <a:gridCol w="1809750"/>
              </a:tblGrid>
              <a:tr h="4762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KPI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L w="6668">
                      <a:solidFill>
                        <a:srgbClr val="DCE6EF"/>
                      </a:solidFill>
                      <a:prstDash val="solid"/>
                    </a:lnL>
                    <a:lnR w="6668">
                      <a:solidFill>
                        <a:srgbClr val="DCE6EF"/>
                      </a:solidFill>
                      <a:prstDash val="solid"/>
                    </a:lnR>
                    <a:lnT w="6668">
                      <a:solidFill>
                        <a:srgbClr val="DCE6EF"/>
                      </a:solidFill>
                      <a:prstDash val="solid"/>
                    </a:lnT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MAE 的 Holm p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T w="6668">
                      <a:solidFill>
                        <a:srgbClr val="DCE6EF"/>
                      </a:solidFill>
                      <a:prstDash val="solid"/>
                    </a:lnT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MSE 的 Holm p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T w="6668">
                      <a:solidFill>
                        <a:srgbClr val="DCE6EF"/>
                      </a:solidFill>
                      <a:prstDash val="solid"/>
                    </a:lnT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DLPRB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L w="6668">
                      <a:solidFill>
                        <a:srgbClr val="DCE6EF"/>
                      </a:solidFill>
                      <a:prstDash val="solid"/>
                    </a:lnL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7.46e−103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5.21e−83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DLThpVol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L w="6668">
                      <a:solidFill>
                        <a:srgbClr val="DCE6EF"/>
                      </a:solidFill>
                      <a:prstDash val="solid"/>
                    </a:lnL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0.354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0.354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DLThpTime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L w="6668">
                      <a:solidFill>
                        <a:srgbClr val="DCE6EF"/>
                      </a:solidFill>
                      <a:prstDash val="solid"/>
                    </a:lnL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2.68e−32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2.64e−15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MR_number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L w="6668">
                      <a:solidFill>
                        <a:srgbClr val="DCE6EF"/>
                      </a:solidFill>
                      <a:prstDash val="solid"/>
                    </a:lnL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5.82e−98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5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1.23e−62</a:t>
                      </a:r>
                      <a:endParaRPr sz="15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66675" marT="47625" marB="47625" anchor="ctr">
                    <a:lnR w="6668">
                      <a:solidFill>
                        <a:srgbClr val="DCE6EF"/>
                      </a:solidFill>
                      <a:prstDash val="solid"/>
                    </a:lnR>
                    <a:lnB w="6668">
                      <a:solidFill>
                        <a:srgbClr val="DCE6EF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17" name="cv-range"/>
          <p:cNvSpPr>
            <a:spLocks noGrp="1"/>
          </p:cNvSpPr>
          <p:nvPr/>
        </p:nvSpPr>
        <p:spPr>
          <a:xfrm>
            <a:off x="571500" y="4905375"/>
            <a:ext cx="5524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外层目标：384–479 / 480–575 / 576–671</a:t>
            </a:r>
            <a:endParaRPr sz="13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cv-conclusion"/>
          <p:cNvSpPr>
            <a:spLocks noGrp="1"/>
          </p:cNvSpPr>
          <p:nvPr/>
        </p:nvSpPr>
        <p:spPr>
          <a:xfrm>
            <a:off x="571500" y="5238750"/>
            <a:ext cx="5429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三折 MAE、RMSE 均值均以 GRU 最低</a:t>
            </a:r>
            <a:endParaRPr sz="16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hac-protocol"/>
          <p:cNvSpPr>
            <a:spLocks noGrp="1"/>
          </p:cNvSpPr>
          <p:nvPr/>
        </p:nvSpPr>
        <p:spPr>
          <a:xfrm>
            <a:off x="6286500" y="4733925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168 对小时损失；HAC 带宽24；每 seed 校正24项</a:t>
            </a:r>
            <a:endParaRPr sz="13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vol-ci"/>
          <p:cNvSpPr>
            <a:spLocks noGrp="1"/>
          </p:cNvSpPr>
          <p:nvPr/>
        </p:nvSpPr>
        <p:spPr>
          <a:xfrm>
            <a:off x="6286500" y="5048250"/>
            <a:ext cx="53340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DLThpVol MAE 差：−0.001853</a:t>
            </a:r>
            <a:endParaRPr sz="1425" b="0">
              <a:solidFill>
                <a:srgbClr val="283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95% CI [−0.004178, 0.000471]（seed42）</a:t>
            </a:r>
            <a:endParaRPr sz="1425" b="0">
              <a:solidFill>
                <a:srgbClr val="283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eed-conclusion"/>
          <p:cNvSpPr>
            <a:spLocks noGrp="1"/>
          </p:cNvSpPr>
          <p:nvPr/>
        </p:nvSpPr>
        <p:spPr>
          <a:xfrm>
            <a:off x="571500" y="56769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seed42 / 43 均为 GRU 四项 MAE 最低，RF 的 DLThpVol RMSE 最低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eed-caveat"/>
          <p:cNvSpPr>
            <a:spLocks noGrp="1"/>
          </p:cNvSpPr>
          <p:nvPr/>
        </p:nvSpPr>
        <p:spPr>
          <a:xfrm>
            <a:off x="571500" y="6067425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DLThpVol 的 MAE 显著性随种子变化：seed43 p=0.01035；MSE p=0.3196</a:t>
            </a:r>
            <a:endParaRPr sz="1425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正式历史实验的异常候选筛选"/>
          <p:cNvSpPr>
            <a:spLocks noGrp="1"/>
          </p:cNvSpPr>
          <p:nvPr/>
        </p:nvSpPr>
        <p:spPr>
          <a:xfrm>
            <a:off x="571500" y="3238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多方法异常检测与共识筛选</a:t>
            </a:r>
            <a:endParaRPr sz="31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共识规则在 483,840 条测试观测中筛出 3,165 条候选，占 0"/>
          <p:cNvSpPr>
            <a:spLocks noGrp="1"/>
          </p:cNvSpPr>
          <p:nvPr/>
        </p:nvSpPr>
        <p:spPr>
          <a:xfrm>
            <a:off x="571500" y="9715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共识规则在 483,840 条测试观测中筛出 3,165 条候选，占 0.654%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457325"/>
            <a:ext cx="11049000" cy="0"/>
          </a:xfrm>
          <a:prstGeom prst="line">
            <a:avLst/>
          </a:prstGeom>
          <a:noFill/>
          <a:ln w="9525">
            <a:solidFill>
              <a:srgbClr val="D5E0E9"/>
            </a:solidFill>
          </a:ln>
        </p:spPr>
        <p:txBody>
          <a:bodyPr/>
          <a:lstStyle/>
          <a:p/>
        </p:txBody>
      </p:sp>
      <p:sp>
        <p:nvSpPr>
          <p:cNvPr id="4" name="08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来源：reports/w3_anomaly_method_summary"/>
          <p:cNvSpPr>
            <a:spLocks noGrp="1"/>
          </p:cNvSpPr>
          <p:nvPr/>
        </p:nvSpPr>
        <p:spPr>
          <a:xfrm>
            <a:off x="571500" y="6457950"/>
            <a:ext cx="990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来源：reports/w3_anomaly_method_summary.csv；w4_anomaly_logic_comparison.csv；w4_anomaly_diagnostics_report.md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统计阈值 + 多变量检测"/>
          <p:cNvSpPr>
            <a:spLocks noGrp="1"/>
          </p:cNvSpPr>
          <p:nvPr/>
        </p:nvSpPr>
        <p:spPr>
          <a:xfrm>
            <a:off x="7810500" y="1828800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统计阈值 + 多变量检测</a:t>
            </a:r>
            <a:endParaRPr sz="21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IF AND&#10;(3σ OR IQR)"/>
          <p:cNvSpPr>
            <a:spLocks noGrp="1"/>
          </p:cNvSpPr>
          <p:nvPr/>
        </p:nvSpPr>
        <p:spPr>
          <a:xfrm>
            <a:off x="7810500" y="2476500"/>
            <a:ext cx="381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5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5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5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5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5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5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5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5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5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5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AND</a:t>
            </a:r>
            <a:endParaRPr sz="255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5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(3σ OR IQR)</a:t>
            </a:r>
            <a:endParaRPr sz="255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VM 历史抽样测试&#10;552 / 12,000 = 4.60%"/>
          <p:cNvSpPr>
            <a:spLocks noGrp="1"/>
          </p:cNvSpPr>
          <p:nvPr/>
        </p:nvSpPr>
        <p:spPr>
          <a:xfrm>
            <a:off x="7810500" y="3971925"/>
            <a:ext cx="3810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SVM 历史抽样测试</a:t>
            </a:r>
            <a:endParaRPr sz="1875" b="0">
              <a:solidFill>
                <a:srgbClr val="283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552 / 12,000 = 4.60%</a:t>
            </a:r>
            <a:endParaRPr sz="1875" b="0">
              <a:solidFill>
                <a:srgbClr val="283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无真实故障标签，候选标记率用于描述筛选范围"/>
          <p:cNvSpPr>
            <a:spLocks noGrp="1"/>
          </p:cNvSpPr>
          <p:nvPr/>
        </p:nvSpPr>
        <p:spPr>
          <a:xfrm>
            <a:off x="571500" y="54864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/>
            </a:defPPr>
            <a:lvl1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分布诊断：DLThpVol 中 98.3% 波束偏态，阈值宽度与厚尾共同影响标记率</a:t>
            </a:r>
            <a:endParaRPr sz="16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历史候选 CSV 仅存前 2,000 条；SVM 分母另列，未参与共识规"/>
          <p:cNvSpPr>
            <a:spLocks noGrp="1"/>
          </p:cNvSpPr>
          <p:nvPr/>
        </p:nvSpPr>
        <p:spPr>
          <a:xfrm>
            <a:off x="571500" y="5991225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/>
            </a:defPPr>
            <a:lvl1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6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 OR 58,108 条；全 AND 2,074 条；当前规则比 IF AND IQR 仅多 6 条</a:t>
            </a:r>
            <a:endParaRPr sz="1575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Chart"/>
          <p:cNvGraphicFramePr/>
          <p:nvPr/>
        </p:nvGraphicFramePr>
        <p:xfrm>
          <a:off x="571500" y="1895475"/>
          <a:ext cx="6667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6" name="直接箭头连接符 9"/>
          <p:cNvCxnSpPr>
            <a:stCxn id="7" idx="2"/>
            <a:endCxn id="8" idx="0"/>
          </p:cNvCxnSpPr>
          <p:nvPr/>
        </p:nvCxnSpPr>
        <p:spPr>
          <a:xfrm>
            <a:off x="2190750" y="4000500"/>
            <a:ext cx="0" cy="581025"/>
          </a:xfrm>
          <a:prstGeom prst="straightConnector1">
            <a:avLst/>
          </a:prstGeom>
          <a:ln w="19050">
            <a:solidFill>
              <a:srgbClr val="009CB6"/>
            </a:solidFill>
            <a:tailEnd type="triangle" w="sm" len="sm"/>
          </a:ln>
        </p:spPr>
      </p:cxnSp>
      <p:cxnSp>
        <p:nvCxnSpPr>
          <p:cNvPr id="17" name="直接箭头连接符 8"/>
          <p:cNvCxnSpPr>
            <a:stCxn id="6" idx="2"/>
            <a:endCxn id="7" idx="0"/>
          </p:cNvCxnSpPr>
          <p:nvPr/>
        </p:nvCxnSpPr>
        <p:spPr>
          <a:xfrm>
            <a:off x="2190750" y="2628900"/>
            <a:ext cx="0" cy="552450"/>
          </a:xfrm>
          <a:prstGeom prst="straightConnector1">
            <a:avLst/>
          </a:prstGeom>
          <a:ln w="19050">
            <a:solidFill>
              <a:srgbClr val="009CB6"/>
            </a:solidFill>
            <a:tailEnd type="triangle" w="sm" len="sm"/>
          </a:ln>
        </p:spPr>
      </p:cxnSp>
      <p:sp>
        <p:nvSpPr>
          <p:cNvPr id="14" name="Streamlit 系统集成"/>
          <p:cNvSpPr>
            <a:spLocks noGrp="1"/>
          </p:cNvSpPr>
          <p:nvPr/>
        </p:nvSpPr>
        <p:spPr>
          <a:xfrm>
            <a:off x="571500" y="3238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Streamlit 系统集成</a:t>
            </a:r>
            <a:endParaRPr sz="31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六个页面连接数据准备、实验版本管理与实际推理"/>
          <p:cNvSpPr>
            <a:spLocks noGrp="1"/>
          </p:cNvSpPr>
          <p:nvPr/>
        </p:nvSpPr>
        <p:spPr>
          <a:xfrm>
            <a:off x="571500" y="9715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六个页面连接数据准备、实验版本管理与实际推理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457325"/>
            <a:ext cx="11049000" cy="0"/>
          </a:xfrm>
          <a:prstGeom prst="line">
            <a:avLst/>
          </a:prstGeom>
          <a:noFill/>
          <a:ln w="9525">
            <a:solidFill>
              <a:srgbClr val="D5E0E9"/>
            </a:solidFill>
          </a:ln>
        </p:spPr>
        <p:txBody>
          <a:bodyPr/>
          <a:lstStyle/>
          <a:p/>
        </p:txBody>
      </p:sp>
      <p:sp>
        <p:nvSpPr>
          <p:cNvPr id="4" name="09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来源：新版 docs/ARCHITECTURE.md；截图 01_web"/>
          <p:cNvSpPr>
            <a:spLocks noGrp="1"/>
          </p:cNvSpPr>
          <p:nvPr/>
        </p:nvSpPr>
        <p:spPr>
          <a:xfrm>
            <a:off x="571500" y="6457950"/>
            <a:ext cx="990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来源：新版 docs/ARCHITECTURE.md；截图 01_web_overview.png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数据层&#10;审计、对齐、特征"/>
          <p:cNvSpPr>
            <a:spLocks noGrp="1"/>
          </p:cNvSpPr>
          <p:nvPr/>
        </p:nvSpPr>
        <p:spPr>
          <a:xfrm>
            <a:off x="571500" y="1905000"/>
            <a:ext cx="3238500" cy="723900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审计、对齐、特征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训练与实验归档&#10;参数、权重、测试报告"/>
          <p:cNvSpPr>
            <a:spLocks noGrp="1"/>
          </p:cNvSpPr>
          <p:nvPr/>
        </p:nvSpPr>
        <p:spPr>
          <a:xfrm>
            <a:off x="571500" y="3181350"/>
            <a:ext cx="3238500" cy="819150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训练与实验归档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参数、权重、测试报告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推理与关联分析&#10;下一小时预测、候选筛选"/>
          <p:cNvSpPr>
            <a:spLocks noGrp="1"/>
          </p:cNvSpPr>
          <p:nvPr/>
        </p:nvSpPr>
        <p:spPr>
          <a:xfrm>
            <a:off x="571500" y="4581525"/>
            <a:ext cx="3238500" cy="819150"/>
          </a:xfrm>
          <a:prstGeom prst="rect">
            <a:avLst/>
          </a:prstGeom>
          <a:solidFill>
            <a:srgbClr val="ECF7FA"/>
          </a:solidFill>
          <a:ln w="12383">
            <a:solidFill>
              <a:srgbClr val="009CB6"/>
            </a:solidFill>
          </a:ln>
        </p:spPr>
        <p:txBody>
          <a:bodyPr lIns="66675" tIns="66675" rIns="66675" bIns="66675" anchor="ctr"/>
          <a:lstStyle>
            <a:lvl1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推理与关联分析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下一小时预测、候选筛选</a:t>
            </a:r>
            <a:endParaRPr sz="18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2228977"/>
            <a:ext cx="7391400" cy="2266696"/>
          </a:xfrm>
          <a:prstGeom prst="rect">
            <a:avLst/>
          </a:prstGeom>
        </p:spPr>
      </p:pic>
      <p:sp>
        <p:nvSpPr>
          <p:cNvPr id="12" name="每轮训练独立 run_id&#10;权重、参数与报告配套归档"/>
          <p:cNvSpPr>
            <a:spLocks noGrp="1"/>
          </p:cNvSpPr>
          <p:nvPr/>
        </p:nvSpPr>
        <p:spPr>
          <a:xfrm>
            <a:off x="4419600" y="5133975"/>
            <a:ext cx="69913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9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 run_id 管理实验</a:t>
            </a:r>
            <a:endParaRPr sz="19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9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参数、权重、指标与图表一一对应</a:t>
            </a:r>
            <a:endParaRPr sz="19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本机离线系统，实时网络采集接口尚未接入"/>
          <p:cNvSpPr>
            <a:spLocks noGrp="1"/>
          </p:cNvSpPr>
          <p:nvPr/>
        </p:nvSpPr>
        <p:spPr>
          <a:xfrm>
            <a:off x="571500" y="6029325"/>
            <a:ext cx="11049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后台训练实时日志与独立 run_id 让多轮实验可追溯</a:t>
            </a:r>
            <a:endParaRPr sz="1575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实际下一小时 KPI 推理"/>
          <p:cNvSpPr>
            <a:spLocks noGrp="1"/>
          </p:cNvSpPr>
          <p:nvPr/>
        </p:nvSpPr>
        <p:spPr>
          <a:xfrm>
            <a:off x="571500" y="3238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实测：下一小时 KPI 预测</a:t>
            </a:r>
            <a:endParaRPr sz="31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me 840、MR_number = 0.6485 是本次实际模型预"/>
          <p:cNvSpPr>
            <a:spLocks noGrp="1"/>
          </p:cNvSpPr>
          <p:nvPr/>
        </p:nvSpPr>
        <p:spPr>
          <a:xfrm>
            <a:off x="571500" y="9715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读取真实历史、加载权重，输出 Time 840 的 MR_number = 0.6485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457325"/>
            <a:ext cx="11049000" cy="0"/>
          </a:xfrm>
          <a:prstGeom prst="line">
            <a:avLst/>
          </a:prstGeom>
          <a:noFill/>
          <a:ln w="9525">
            <a:solidFill>
              <a:srgbClr val="D5E0E9"/>
            </a:solidFill>
          </a:ln>
        </p:spPr>
        <p:txBody>
          <a:bodyPr/>
          <a:lstStyle/>
          <a:p/>
        </p:txBody>
      </p:sp>
      <p:sp>
        <p:nvSpPr>
          <p:cNvPr id="4" name="10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来源：截图 03_kpi_prediction.png；截图/PPT_截"/>
          <p:cNvSpPr>
            <a:spLocks noGrp="1"/>
          </p:cNvSpPr>
          <p:nvPr/>
        </p:nvSpPr>
        <p:spPr>
          <a:xfrm>
            <a:off x="571500" y="6457950"/>
            <a:ext cx="990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来源：截图 03_kpi_prediction.png；截图/PPT_截图素材说明.md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733550"/>
            <a:ext cx="11049000" cy="2286000"/>
          </a:xfrm>
          <a:prstGeom prst="rect">
            <a:avLst/>
          </a:prstGeom>
        </p:spPr>
      </p:pic>
      <p:pic>
        <p:nvPicPr>
          <p:cNvPr id="20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83" y="4143375"/>
            <a:ext cx="6312060" cy="2076450"/>
          </a:xfrm>
          <a:prstGeom prst="rect">
            <a:avLst/>
          </a:prstGeom>
        </p:spPr>
      </p:pic>
      <p:sp>
        <p:nvSpPr>
          <p:cNvPr id="8" name="单波束 / 单 KPI"/>
          <p:cNvSpPr>
            <a:spLocks noGrp="1"/>
          </p:cNvSpPr>
          <p:nvPr/>
        </p:nvSpPr>
        <p:spPr>
          <a:xfrm>
            <a:off x="7905750" y="4286250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单波束 · 单 KPI</a:t>
            </a:r>
            <a:endParaRPr sz="21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ime 840 无真值&#10;本页不计算误差指标"/>
          <p:cNvSpPr>
            <a:spLocks noGrp="1"/>
          </p:cNvSpPr>
          <p:nvPr/>
        </p:nvSpPr>
        <p:spPr>
          <a:xfrm>
            <a:off x="7905750" y="4867275"/>
            <a:ext cx="3714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/>
            </a:defPPr>
            <a:lvl1pPr algn="l">
              <a:buNone/>
              <a:defRPr sz="202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基于真实历史输入</a:t>
            </a:r>
            <a:endParaRPr sz="195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加载权重预测下一小时</a:t>
            </a:r>
            <a:endParaRPr sz="2025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预测值、目标小时与 CSV 导出来自同一次实际运行"/>
          <p:cNvSpPr>
            <a:spLocks noGrp="1"/>
          </p:cNvSpPr>
          <p:nvPr/>
        </p:nvSpPr>
        <p:spPr>
          <a:xfrm>
            <a:off x="7905750" y="589597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预测值、目标小时与 CSV 导出来自同一次实际运行</a:t>
            </a:r>
            <a:endParaRPr sz="150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实际异常检测与结果导出"/>
          <p:cNvSpPr>
            <a:spLocks noGrp="1"/>
          </p:cNvSpPr>
          <p:nvPr/>
        </p:nvSpPr>
        <p:spPr>
          <a:xfrm>
            <a:off x="571500" y="3238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实测：异常检测与结果导出</a:t>
            </a:r>
            <a:endParaRPr sz="31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本次 Web 输入得到 58 条共识候选，分母为 5,760 条输出观测"/>
          <p:cNvSpPr>
            <a:spLocks noGrp="1"/>
          </p:cNvSpPr>
          <p:nvPr/>
        </p:nvSpPr>
        <p:spPr>
          <a:xfrm>
            <a:off x="571500" y="9715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 Web 输入得到 58 条共识候选，分母为 5,760 条输出观测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457325"/>
            <a:ext cx="11049000" cy="0"/>
          </a:xfrm>
          <a:prstGeom prst="line">
            <a:avLst/>
          </a:prstGeom>
          <a:noFill/>
          <a:ln w="9525">
            <a:solidFill>
              <a:srgbClr val="D5E0E9"/>
            </a:solidFill>
          </a:ln>
        </p:spPr>
        <p:txBody>
          <a:bodyPr/>
          <a:lstStyle/>
          <a:p/>
        </p:txBody>
      </p:sp>
      <p:sp>
        <p:nvSpPr>
          <p:cNvPr id="4" name="11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来源：截图 04_anomaly_detection-1 / -2；截图"/>
          <p:cNvSpPr>
            <a:spLocks noGrp="1"/>
          </p:cNvSpPr>
          <p:nvPr/>
        </p:nvSpPr>
        <p:spPr>
          <a:xfrm>
            <a:off x="571500" y="6457950"/>
            <a:ext cx="990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来源：截图 04_anomaly_detection-1 / -2；截图/PPT_截图素材说明.md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791058"/>
            <a:ext cx="5476875" cy="3133008"/>
          </a:xfrm>
          <a:prstGeom prst="rect">
            <a:avLst/>
          </a:prstGeom>
        </p:spPr>
      </p:pic>
      <p:pic>
        <p:nvPicPr>
          <p:cNvPr id="20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970735"/>
            <a:ext cx="5295900" cy="3030829"/>
          </a:xfrm>
          <a:prstGeom prst="rect">
            <a:avLst/>
          </a:prstGeom>
        </p:spPr>
      </p:pic>
      <p:sp>
        <p:nvSpPr>
          <p:cNvPr id="8" name="3σ 320      IQR 713      IF 151     "/>
          <p:cNvSpPr>
            <a:spLocks noGrp="1"/>
          </p:cNvSpPr>
          <p:nvPr/>
        </p:nvSpPr>
        <p:spPr>
          <a:xfrm>
            <a:off x="571500" y="5257800"/>
            <a:ext cx="1104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3σ 320      IQR 713      IF 151      SVM 593      共识 58</a:t>
            </a:r>
            <a:endParaRPr sz="21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最后 3 小时输入，首小时为上下文，输出 Time 838–839"/>
          <p:cNvSpPr>
            <a:spLocks noGrp="1"/>
          </p:cNvSpPr>
          <p:nvPr/>
        </p:nvSpPr>
        <p:spPr>
          <a:xfrm>
            <a:off x="571500" y="57150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 3 小时输入，首小时为上下文，输出 Time 838–839</a:t>
            </a:r>
            <a:endParaRPr sz="1800" b="0">
              <a:solidFill>
                <a:srgbClr val="283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58 / 5,760 = 1.0069%，与正式历史实验的 3,165 "/>
          <p:cNvSpPr>
            <a:spLocks noGrp="1"/>
          </p:cNvSpPr>
          <p:nvPr/>
        </p:nvSpPr>
        <p:spPr>
          <a:xfrm>
            <a:off x="571500" y="611505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现场检测：58 / 5,760（1.01%）；历史全量：3,165 / 483,840（0.654%）</a:t>
            </a:r>
            <a:endParaRPr sz="1575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KPI 关联分析与排查线索"/>
          <p:cNvSpPr>
            <a:spLocks noGrp="1"/>
          </p:cNvSpPr>
          <p:nvPr/>
        </p:nvSpPr>
        <p:spPr>
          <a:xfrm>
            <a:off x="571500" y="3238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KPI 关联分析：识别指标协同变化</a:t>
            </a:r>
            <a:endParaRPr sz="31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历史候选与本次候选分别计算相关性，相关强度仅提供排查线索"/>
          <p:cNvSpPr>
            <a:spLocks noGrp="1"/>
          </p:cNvSpPr>
          <p:nvPr/>
        </p:nvSpPr>
        <p:spPr>
          <a:xfrm>
            <a:off x="571500" y="9715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正式历史样本与 Web 实测分别得到相关矩阵，支持负载与测量活动排查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457325"/>
            <a:ext cx="11049000" cy="0"/>
          </a:xfrm>
          <a:prstGeom prst="line">
            <a:avLst/>
          </a:prstGeom>
          <a:noFill/>
          <a:ln w="9525">
            <a:solidFill>
              <a:srgbClr val="D5E0E9"/>
            </a:solidFill>
          </a:ln>
        </p:spPr>
        <p:txBody>
          <a:bodyPr/>
          <a:lstStyle/>
          <a:p/>
        </p:txBody>
      </p:sp>
      <p:sp>
        <p:nvSpPr>
          <p:cNvPr id="4" name="12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来源：reports/w4_anomaly_kpi_correlatio"/>
          <p:cNvSpPr>
            <a:spLocks noGrp="1"/>
          </p:cNvSpPr>
          <p:nvPr/>
        </p:nvSpPr>
        <p:spPr>
          <a:xfrm>
            <a:off x="571500" y="6457950"/>
            <a:ext cx="990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来源：reports/w4_anomaly_kpi_correlation_tests.csv；截图 05_kpi_association.png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正式历史实验"/>
          <p:cNvSpPr>
            <a:spLocks noGrp="1"/>
          </p:cNvSpPr>
          <p:nvPr/>
        </p:nvSpPr>
        <p:spPr>
          <a:xfrm>
            <a:off x="571500" y="1762125"/>
            <a:ext cx="4476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正式历史实验</a:t>
            </a:r>
            <a:endParaRPr sz="210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5" name="表格 6"/>
          <p:cNvGraphicFramePr/>
          <p:nvPr/>
        </p:nvGraphicFramePr>
        <p:xfrm>
          <a:off x="571500" y="2324100"/>
          <a:ext cx="4857750" cy="2190752"/>
        </p:xfrm>
        <a:graphic>
          <a:graphicData uri="http://schemas.openxmlformats.org/drawingml/2006/table">
            <a:tbl>
              <a:tblPr/>
              <a:tblGrid>
                <a:gridCol w="2762250"/>
                <a:gridCol w="2095500"/>
              </a:tblGrid>
              <a:tr h="5476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候选样本</a:t>
                      </a:r>
                      <a:endParaRPr sz="15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3,165 条，30 站</a:t>
                      </a:r>
                      <a:endParaRPr sz="15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DLPRB 与 MR_number</a:t>
                      </a:r>
                      <a:endParaRPr sz="157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 = 0.889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 = 1.1e−28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DLPRB 与 DLThpTime</a:t>
                      </a:r>
                      <a:endParaRPr sz="157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 = 0.697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 = 3.53e−10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历史统计检验</a:t>
                      </a:r>
                      <a:endParaRPr sz="157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 站聚类 / Holm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4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六对 p 均 &lt; 0.05</a:t>
                      </a:r>
                      <a:endParaRPr sz="14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后续核验"/>
          <p:cNvSpPr>
            <a:spLocks noGrp="1"/>
          </p:cNvSpPr>
          <p:nvPr/>
        </p:nvSpPr>
        <p:spPr>
          <a:xfrm>
            <a:off x="571500" y="4953000"/>
            <a:ext cx="4476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02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工程应用</a:t>
            </a:r>
            <a:endParaRPr sz="2025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关联候选与告警、SINR、重传率&#10;及人工工单进行对照"/>
          <p:cNvSpPr>
            <a:spLocks noGrp="1"/>
          </p:cNvSpPr>
          <p:nvPr/>
        </p:nvSpPr>
        <p:spPr>
          <a:xfrm>
            <a:off x="571500" y="5438775"/>
            <a:ext cx="46672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/>
            </a:defPPr>
            <a:lvl1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6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关联提供排查线索，结合告警、SINR、</a:t>
            </a:r>
            <a:endParaRPr sz="1650" b="0">
              <a:solidFill>
                <a:srgbClr val="283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6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重传率与运维记录核验</a:t>
            </a:r>
            <a:endParaRPr sz="1650" b="0">
              <a:solidFill>
                <a:srgbClr val="283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734135"/>
            <a:ext cx="5905500" cy="1399006"/>
          </a:xfrm>
          <a:prstGeom prst="rect">
            <a:avLst/>
          </a:prstGeom>
        </p:spPr>
      </p:pic>
      <p:pic>
        <p:nvPicPr>
          <p:cNvPr id="29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0" y="3257550"/>
            <a:ext cx="3175000" cy="2476500"/>
          </a:xfrm>
          <a:prstGeom prst="rect">
            <a:avLst/>
          </a:prstGeom>
        </p:spPr>
      </p:pic>
      <p:pic>
        <p:nvPicPr>
          <p:cNvPr id="30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3429000"/>
            <a:ext cx="523875" cy="2152650"/>
          </a:xfrm>
          <a:prstGeom prst="rect">
            <a:avLst/>
          </a:prstGeom>
        </p:spPr>
      </p:pic>
      <p:sp>
        <p:nvSpPr>
          <p:cNvPr id="13" name="本次 58 条候选：DLPRB 与 MR_number 的 r 约 0."/>
          <p:cNvSpPr>
            <a:spLocks noGrp="1"/>
          </p:cNvSpPr>
          <p:nvPr/>
        </p:nvSpPr>
        <p:spPr>
          <a:xfrm>
            <a:off x="5715000" y="5857875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 58 条候选：DLPRB 与 MR_number 的 r 约 0.82</a:t>
            </a:r>
            <a:endParaRPr sz="1575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系统测试与验收边界"/>
          <p:cNvSpPr>
            <a:spLocks noGrp="1"/>
          </p:cNvSpPr>
          <p:nvPr/>
        </p:nvSpPr>
        <p:spPr>
          <a:xfrm>
            <a:off x="571500" y="3238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系统测试：功能闭环与工程改进</a:t>
            </a:r>
            <a:endParaRPr sz="31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历史本机功能验收已通过，完整新版回归与性能基准仍缺少记录"/>
          <p:cNvSpPr>
            <a:spLocks noGrp="1"/>
          </p:cNvSpPr>
          <p:nvPr/>
        </p:nvSpPr>
        <p:spPr>
          <a:xfrm>
            <a:off x="571500" y="9715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57 项自动测试通过，六页 AppTest 无异常，正式模型回载与导出通过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457325"/>
            <a:ext cx="11049000" cy="0"/>
          </a:xfrm>
          <a:prstGeom prst="line">
            <a:avLst/>
          </a:prstGeom>
          <a:noFill/>
          <a:ln w="9525">
            <a:solidFill>
              <a:srgbClr val="D5E0E9"/>
            </a:solidFill>
          </a:ln>
        </p:spPr>
        <p:txBody>
          <a:bodyPr/>
          <a:lstStyle/>
          <a:p/>
        </p:txBody>
      </p:sp>
      <p:sp>
        <p:nvSpPr>
          <p:cNvPr id="4" name="13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来源：新版 docs/TECHNICAL_REPORT.md §7.1–"/>
          <p:cNvSpPr>
            <a:spLocks noGrp="1"/>
          </p:cNvSpPr>
          <p:nvPr/>
        </p:nvSpPr>
        <p:spPr>
          <a:xfrm>
            <a:off x="571500" y="6457950"/>
            <a:ext cx="990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来源：《项目技术报告》第15页；final_tests.txt；web_apptest.json；real_artifact_roundtrip.json；cli_smoke.txt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表格 5"/>
          <p:cNvGraphicFramePr/>
          <p:nvPr/>
        </p:nvGraphicFramePr>
        <p:xfrm>
          <a:off x="571500" y="1790699"/>
          <a:ext cx="11049000" cy="3790950"/>
        </p:xfrm>
        <a:graphic>
          <a:graphicData uri="http://schemas.openxmlformats.org/drawingml/2006/table">
            <a:tbl>
              <a:tblPr/>
              <a:tblGrid>
                <a:gridCol w="2333625"/>
                <a:gridCol w="6667500"/>
                <a:gridCol w="2047875"/>
              </a:tblGrid>
              <a:tr h="6318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验收项目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执行记录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结果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自动回归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 项全部通过，覆盖时间契约、scaler、推理及实验隔离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六页 AppTest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六页自动加载和切换，无异常及可见错误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正式预测工件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GRU 1 个、RF 4 个、XGBoost 4 个，回载推理与导出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异常工件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既有权重检测 5,760 条演示观测并完成 CSV 导出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命令行训练入口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轮、512 样本功能烟测，分数不参与正式选型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65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功能小样本验收、历史正式精度与新版完整验收分别记录"/>
          <p:cNvSpPr>
            <a:spLocks noGrp="1"/>
          </p:cNvSpPr>
          <p:nvPr/>
        </p:nvSpPr>
        <p:spPr>
          <a:xfrm>
            <a:off x="571500" y="566737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工程改进：统一 UTF-8、独立 run_id、WebSocket 实时日志</a:t>
            </a:r>
            <a:endParaRPr sz="21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功能验收采用小样本配置，正式历史精度与资源性能需分别核验"/>
          <p:cNvSpPr>
            <a:spLocks noGrp="1"/>
          </p:cNvSpPr>
          <p:nvPr/>
        </p:nvSpPr>
        <p:spPr>
          <a:xfrm>
            <a:off x="571500" y="6105525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/>
            </a:defPPr>
            <a:lvl1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0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前述 Web 截图为本机交互记录，本轮验收覆盖自动回归、页面加载与工件验证</a:t>
            </a:r>
            <a:endParaRPr sz="150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项目成果与后续工作"/>
          <p:cNvSpPr>
            <a:spLocks noGrp="1"/>
          </p:cNvSpPr>
          <p:nvPr/>
        </p:nvSpPr>
        <p:spPr>
          <a:xfrm>
            <a:off x="571500" y="3238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项目成果与发展方向</a:t>
            </a:r>
            <a:endParaRPr sz="31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已完成协议证据、离线模型比较和可运行 Web 原型"/>
          <p:cNvSpPr>
            <a:spLocks noGrp="1"/>
          </p:cNvSpPr>
          <p:nvPr/>
        </p:nvSpPr>
        <p:spPr>
          <a:xfrm>
            <a:off x="571500" y="9715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9C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完成通信验证、正式模型评估、异常筛查与六模块 Web 系统交付</a:t>
            </a:r>
            <a:endParaRPr sz="1800" b="1">
              <a:solidFill>
                <a:srgbClr val="009C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457325"/>
            <a:ext cx="11049000" cy="0"/>
          </a:xfrm>
          <a:prstGeom prst="line">
            <a:avLst/>
          </a:prstGeom>
          <a:noFill/>
          <a:ln w="9525">
            <a:solidFill>
              <a:srgbClr val="D5E0E9"/>
            </a:solidFill>
          </a:ln>
        </p:spPr>
        <p:txBody>
          <a:bodyPr/>
          <a:lstStyle/>
          <a:p/>
        </p:txBody>
      </p:sp>
      <p:sp>
        <p:nvSpPr>
          <p:cNvPr id="4" name="14 / 14"/>
          <p:cNvSpPr>
            <a:spLocks noGrp="1"/>
          </p:cNvSpPr>
          <p:nvPr/>
        </p:nvSpPr>
        <p:spPr>
          <a:xfrm>
            <a:off x="10763250" y="6457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14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来源：正式实验表；完整技术报告；新版系统文档与本机验收记录"/>
          <p:cNvSpPr>
            <a:spLocks noGrp="1"/>
          </p:cNvSpPr>
          <p:nvPr/>
        </p:nvSpPr>
        <p:spPr>
          <a:xfrm>
            <a:off x="571500" y="6457950"/>
            <a:ext cx="990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074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来源：《项目技术报告》第8–16页；正式实验与2026-10-25验收记录</a:t>
            </a:r>
            <a:endParaRPr sz="1050" b="0">
              <a:solidFill>
                <a:srgbClr val="6074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已交付的研究与工程成果"/>
          <p:cNvSpPr>
            <a:spLocks noGrp="1"/>
          </p:cNvSpPr>
          <p:nvPr/>
        </p:nvSpPr>
        <p:spPr>
          <a:xfrm>
            <a:off x="571500" y="180975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已交付的研究与工程成果</a:t>
            </a:r>
            <a:endParaRPr sz="22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0" name="表格 6"/>
          <p:cNvGraphicFramePr/>
          <p:nvPr/>
        </p:nvGraphicFramePr>
        <p:xfrm>
          <a:off x="571500" y="2419350"/>
          <a:ext cx="11049000" cy="1724025"/>
        </p:xfrm>
        <a:graphic>
          <a:graphicData uri="http://schemas.openxmlformats.org/drawingml/2006/table">
            <a:tbl>
              <a:tblPr/>
              <a:tblGrid>
                <a:gridCol w="1905000"/>
                <a:gridCol w="9144000"/>
              </a:tblGrid>
              <a:tr h="5746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通信侧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5G SA 注册、会话配置及 GTP-U 转发证据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12345A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建模侧</a:t>
                      </a:r>
                      <a:endParaRPr sz="187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三模型统一比较、三折 / 双种子检验；3,165 条异常候选</a:t>
                      </a:r>
                      <a:endParaRPr sz="172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系统侧</a:t>
                      </a:r>
                      <a:endParaRPr sz="1875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3F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六页 Web、57 项自动测试、正式模型回载与 CSV 导出</a:t>
                      </a:r>
                      <a:endParaRPr sz="1800" b="0">
                        <a:solidFill>
                          <a:srgbClr val="283F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76200" marT="57150" marB="57150" anchor="ctr">
                    <a:lnL w="5715" cmpd="sng">
                      <a:solidFill>
                        <a:srgbClr val="D5E0E9"/>
                      </a:solidFill>
                      <a:prstDash val="solid"/>
                    </a:lnL>
                    <a:lnR w="5715">
                      <a:solidFill>
                        <a:srgbClr val="D5E0E9"/>
                      </a:solidFill>
                      <a:prstDash val="solid"/>
                    </a:lnR>
                    <a:lnT w="5715" cmpd="sng">
                      <a:solidFill>
                        <a:srgbClr val="D5E0E9"/>
                      </a:solidFill>
                      <a:prstDash val="solid"/>
                    </a:lnT>
                    <a:lnB w="5715">
                      <a:solidFill>
                        <a:srgbClr val="D5E0E9"/>
                      </a:solidFill>
                      <a:prstDash val="soli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8" name="后续优先级"/>
          <p:cNvSpPr>
            <a:spLocks noGrp="1"/>
          </p:cNvSpPr>
          <p:nvPr/>
        </p:nvSpPr>
        <p:spPr>
          <a:xfrm>
            <a:off x="571500" y="45720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3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后续拓展方向</a:t>
            </a:r>
            <a:endParaRPr sz="2250" b="1">
              <a:solidFill>
                <a:srgbClr val="123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2  严格训练子段标准化，补充滚动验证与多随机种子实验"/>
          <p:cNvSpPr>
            <a:spLocks noGrp="1"/>
          </p:cNvSpPr>
          <p:nvPr/>
        </p:nvSpPr>
        <p:spPr>
          <a:xfrm>
            <a:off x="571500" y="5233987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/>
            </a:defPPr>
            <a:lvl1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扩展验证：增加时间窗口、随机种子与独立外部数据</a:t>
            </a:r>
            <a:endParaRPr sz="1950" b="0">
              <a:solidFill>
                <a:srgbClr val="283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03  接入真实故障标签、告警和实时 KPI，核验候选与排查假设"/>
          <p:cNvSpPr>
            <a:spLocks noGrp="1"/>
          </p:cNvSpPr>
          <p:nvPr/>
        </p:nvSpPr>
        <p:spPr>
          <a:xfrm>
            <a:off x="571500" y="5643562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/>
            </a:defPPr>
            <a:lvl1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83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接入告警、故障工单与实时 KPI，核验异常筛查效果</a:t>
            </a:r>
            <a:endParaRPr sz="1950" b="0">
              <a:solidFill>
                <a:srgbClr val="283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4577</Words>
  <Application>WPS 演示</Application>
  <PresentationFormat>Converted Presentation</PresentationFormat>
  <Paragraphs>535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MS PGothic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白鸟</cp:lastModifiedBy>
  <cp:revision>1</cp:revision>
  <dcterms:created xsi:type="dcterms:W3CDTF">2026-10-25T11:05:45Z</dcterms:created>
  <dcterms:modified xsi:type="dcterms:W3CDTF">2026-10-25T11:05:45Z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02F08668C7E540D48A4251D5790FD16A_12</vt:lpwstr>
  </property>
  <property fmtid="{D5CDD505-2E9C-101B-9397-08002B2CF9AE}" pid="3" name="KSOProductBuildVer">
    <vt:lpwstr>2052-12.1.0.28599</vt:lpwstr>
  </property>
</Properties>
</file>